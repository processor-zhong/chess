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512" autoAdjust="0"/>
  </p:normalViewPr>
  <p:slideViewPr>
    <p:cSldViewPr snapToGrid="0" snapToObjects="1">
      <p:cViewPr varScale="1">
        <p:scale>
          <a:sx n="90" d="100"/>
          <a:sy n="90" d="100"/>
        </p:scale>
        <p:origin x="82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2108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zh-CN" dirty="0"/>
              <a:t>Good afternoon. We are Group 1 from CA6001, and our project focuses on human-context chess outcome prediction.</a:t>
            </a:r>
          </a:p>
          <a:p>
            <a:r>
              <a:rPr lang="en-US" altLang="zh-CN" dirty="0"/>
              <a:t>Modern chess engines such as Stockfish can evaluate the objective strength of a board position very effectively. However, the outcome of a game between human players may also depend on factors beyond the board, such as player ratings and time control.</a:t>
            </a:r>
          </a:p>
          <a:p>
            <a:r>
              <a:rPr lang="en-US" altLang="zh-CN" dirty="0"/>
              <a:t>We selected the Chess Game Dataset from </a:t>
            </a:r>
            <a:r>
              <a:rPr lang="en-US" altLang="zh-CN" dirty="0" err="1"/>
              <a:t>Lichess</a:t>
            </a:r>
            <a:r>
              <a:rPr lang="en-US" altLang="zh-CN" dirty="0"/>
              <a:t>, which contains approximately 20,000 games played by human players. It includes pre-match information, complete move sequences, and final results.</a:t>
            </a:r>
          </a:p>
          <a:p>
            <a:r>
              <a:rPr lang="en-US" altLang="zh-CN" dirty="0"/>
              <a:t>Using this dataset, we developed a machine-learning classifier based on </a:t>
            </a:r>
            <a:r>
              <a:rPr lang="en-US" altLang="zh-CN" sz="1200" kern="1200" dirty="0" err="1">
                <a:solidFill>
                  <a:schemeClr val="tx1"/>
                </a:solidFill>
                <a:latin typeface="+mn-lt"/>
                <a:ea typeface="+mn-ea"/>
                <a:cs typeface="+mn-cs"/>
              </a:rPr>
              <a:t>HistGradientBoostingClassifier</a:t>
            </a:r>
            <a:r>
              <a:rPr lang="en-US" altLang="zh-CN" dirty="0"/>
              <a:t>. It combines pre-match context, Stockfish evaluations of positions throughout the game, and a small set of interpretable manually engineered features to predict whether Black wins, the game is drawn, or White wins.</a:t>
            </a:r>
          </a:p>
          <a:p>
            <a:r>
              <a:rPr lang="en-US" altLang="zh-CN" dirty="0"/>
              <a:t>Our results show that incorporating human context improves outcome prediction beyond position-based evaluation alone, with particularly clear gains during the early stages of a game.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storyline is a controlled comparison. Direct Stockfish WDL is the engine reference and is not fitted to this dataset. Position-only HGB then learns how the same engine evidence and simple board summaries map to recorded human outcomes. The main Human-context HGB uses exactly the same classifier settings and position representation, then adds ratings, rated status, and time-control variables. Because the two learned models differ only in their information set, their performance gap directly answers our predictive research question within this experiment. It is an association and ablation result, not a causal claim about rating or time control.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source contains 20,058 rows. Removing 945 repeated game identifiers leaves 19,113 unique games: 8,680 Black wins, 888 draws, and 9,545 White wins. Draws are only 4.6 percent, so accuracy alone is not sufficient; macro-F1 is also reported. The split is stratified by outcome, with 70 percent for training and 15 percent each for validation and test, using seed 6001. Splitting happens before position extraction, so every snapshot from a game remains in the same partition. The figure also shows overlapping rating distributions, the relationship between rating difference and outcome, and the dominant time controls.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One ply is one move by one player, or half of a full move. Training and validation sample positions after ply 4 and then plies 8, 16, 24, and so on to 160. For example, ply 24 is the position after 12 complete moves. A short game contributes only checkpoints it reaches. This absolute schedule limits computation and never requires knowing the future. Percentage progress would be current ply divided by the final ply count, but the denominator is unknown during live prediction. Using it as a feature would leak future game length. We therefore use current ply as the input and calculate percentages only after test games finish, solely to align reporting positions across games.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feature set is intentionally small. Stockfish contributes centipawn score, mate score, White-win count, and draw count. Centipawn and mate scores are missing in complementary situations, which histogram gradient boosting can handle. Three manual features describe how many plies have been observed, total non-king material, and White minus Black material. The main model adds ten pre-match variables derived from ratings, rated status, and time control. The correlation figure shows why engineered rating summaries are useful but not sufficient. All directional values use White's perspective. Player IDs, opening labels, final game length, termination status, and the target are excluded.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final learned model family is histogram gradient boosting. There are two separately fitted HGB instances because the available information changes. Before play, the Pre-match HGB uses context only and supplies the zero-percent estimate. Once a board exists, the Human-context HGB uses the position plus the same pre-match context and updates the probabilities. HGB is appropriate because the relationships are nonlinear, score_cp and score_mate contain structured missing values, and the data are tabular. Both in-game HGBs use learning rate 0.08, up to 240 iterations, 31 leaves, L2 regularisation, and early stopping. The primary comparison pools all available test snapshots at the five percentage checkpoints.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play, the notebook compares a majority dummy, balanced multinomial logistic regression, and Pre-match HGB on validation games only. Macro-F1 is the selection criterion because it gives equal class-level influence to Black wins, draws, and White wins. HGB has the highest validation macro-F1 at 0.400 and is selected. Only the selected Pre-match HGB is then evaluated once on the held-out test games, where it reaches 0.523 accuracy and 0.427 macro-F1. The figure also shows rating-related permutation importance and the held-out confusion matrix. The validation table and selected-model test table are deliberately separate because they describe different samples and different purposes.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primary controlled result. Each score pools all available test snapshots at 10, 25, 50, 75, and 100 percent progress. It is not one checkpoint and not a simple average of five checkpoint metrics. Direct Stockfish WDL reaches 47.6 percent accuracy and 0.434 macro-F1. The Position-only HGB reaches 63.4 percent and 0.520. Adding human context while keeping the HGB specification fixed raises accuracy to 68.7 percent and macro-F1 to 0.545, while log loss falls from 0.853 to 0.714. The controlled gain is therefore 5.4 accuracy percentage points, 0.025 macro-F1, and a 0.139 reduction in log loss.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Permutation importance asks how much validation macro-F1 falls when one feature is shuffled while the fitted model is held fixed. The leading features are Stockfish WDL wins and centipawn score, confirming that the current board is the main evidence. Rating difference also ranks highly, which is consistent with the hypothesis that practical conversion depends on who is playing. Material total and ply add game-phase information. Correlated features can share or mask importance, so the exact ranking is not a causal decomposition. The useful conclusion is narrower: engine evidence and human context both contribute to the fitted predictor, and the test ablation shows that adding context improves held-out prediction.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progress curve separates the initial estimate from in-game updates. At zero percent, the Pre-match HGB reaches 52.3 percent accuracy. The Human-context HGB reaches 58.4 percent at 10 percent progress, 64.9 percent at the midpoint, and 89.9 percent at the final recorded board. Its normalised 10-to-100-percent area under the progress curve is 0.683 for accuracy and 0.541 for macro-F1. Direct WDL is weak early because it often favours draws in balanced positions, while draws are rare in this human sample. At the endpoint it reaches 90.1 percent, slightly above the main model. The endpoint remains a prediction, but some final boards may already determine the result.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confusion matrix explains why macro-F1 remains much lower than accuracy. Black-win and White-win F1 scores are 0.708 and 0.722, but draw F1 is only 0.206. Draw recall is 0.240, so most true draw snapshots are missed. Draw precision is 0.180, so most predictions labelled draw are false alarms. The confidence plot also shows that errors are not confined to low-confidence cases. These supports count snapshots rather than independent games; the same game can appear at multiple checkpoints with one final label. Future interval estimates or significance tests should therefore group by game rather than treat snapshots as independent.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evidence supports a predictive conclusion: within this dataset and model specification, human context improves outcome prediction beyond the current position. It does not show that the classifier understands or plays chess better than Stockfish, and feature importance is not causal. Stockfish analysis is deliberately shallow at 1,000 nodes. The data lack per-move clock information, random splitting does not test temporal drift or transfer to unseen players, and fixed-ply development positions differ from percentage-selected test positions. Draw scarcity remains a major class limitation. The strongest next step is to freeze the complete pipeline and evaluate once on a fresh chronological or unseen-player holdout, with uncertainty estimates grouped by game.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Stockfish provides strong objective position evidence, but direct WDL is not calibrated to the outcome distribution of these human games, especially early in play. A Position-only HGB learns a better human-outcome mapping, and adding pre-match context produces a further controlled improvement. The main Human-context HGB reaches 68.7 percent pooled accuracy and 0.545 macro-F1 across held-out in-game snapshots. Its prediction strengthens as moves arrive, reaching 89.9 percent accuracy at the final recorded board. The result is useful but bounded by draw scarcity, shallow engine analysis, and the random split. Our takeaway is to model the board objectively, then model the humans who must play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7F6"/>
        </a:solidFill>
        <a:effectLst/>
      </p:bgPr>
    </p:bg>
    <p:spTree>
      <p:nvGrpSpPr>
        <p:cNvPr id="1" name=""/>
        <p:cNvGrpSpPr/>
        <p:nvPr/>
      </p:nvGrpSpPr>
      <p:grpSpPr>
        <a:xfrm>
          <a:off x="0" y="0"/>
          <a:ext cx="0" cy="0"/>
          <a:chOff x="0" y="0"/>
          <a:chExt cx="0" cy="0"/>
        </a:xfrm>
      </p:grpSpPr>
      <p:sp>
        <p:nvSpPr>
          <p:cNvPr id="2" name="Rectangle 1"/>
          <p:cNvSpPr/>
          <p:nvPr/>
        </p:nvSpPr>
        <p:spPr>
          <a:xfrm>
            <a:off x="0" y="0"/>
            <a:ext cx="210312" cy="685800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685800"/>
            <a:ext cx="5029200" cy="292608"/>
          </a:xfrm>
          <a:prstGeom prst="rect">
            <a:avLst/>
          </a:prstGeom>
          <a:noFill/>
        </p:spPr>
        <p:txBody>
          <a:bodyPr wrap="square" lIns="27432" tIns="27432" rIns="27432" bIns="27432" anchor="t">
            <a:spAutoFit/>
          </a:bodyPr>
          <a:lstStyle/>
          <a:p>
            <a:pPr algn="l">
              <a:lnSpc>
                <a:spcPct val="100000"/>
              </a:lnSpc>
            </a:pPr>
            <a:r>
              <a:rPr sz="1300" b="1">
                <a:solidFill>
                  <a:srgbClr val="007E78"/>
                </a:solidFill>
                <a:latin typeface="Arial"/>
              </a:rPr>
              <a:t>GROUP 1  ·  CA6001</a:t>
            </a:r>
          </a:p>
        </p:txBody>
      </p:sp>
      <p:sp>
        <p:nvSpPr>
          <p:cNvPr id="4" name="TextBox 3"/>
          <p:cNvSpPr txBox="1"/>
          <p:nvPr/>
        </p:nvSpPr>
        <p:spPr>
          <a:xfrm>
            <a:off x="713232" y="1261872"/>
            <a:ext cx="10789920" cy="1600200"/>
          </a:xfrm>
          <a:prstGeom prst="rect">
            <a:avLst/>
          </a:prstGeom>
          <a:noFill/>
        </p:spPr>
        <p:txBody>
          <a:bodyPr wrap="square" lIns="27432" tIns="27432" rIns="27432" bIns="27432" anchor="t">
            <a:spAutoFit/>
          </a:bodyPr>
          <a:lstStyle/>
          <a:p>
            <a:pPr algn="l">
              <a:lnSpc>
                <a:spcPct val="100000"/>
              </a:lnSpc>
            </a:pPr>
            <a:r>
              <a:rPr sz="4200" b="1">
                <a:solidFill>
                  <a:srgbClr val="142C3B"/>
                </a:solidFill>
                <a:latin typeface="Arial"/>
              </a:rPr>
              <a:t>Human-Context Chess
Outcome Prediction</a:t>
            </a:r>
          </a:p>
        </p:txBody>
      </p:sp>
      <p:sp>
        <p:nvSpPr>
          <p:cNvPr id="5" name="TextBox 4"/>
          <p:cNvSpPr txBox="1"/>
          <p:nvPr/>
        </p:nvSpPr>
        <p:spPr>
          <a:xfrm>
            <a:off x="749808" y="3218688"/>
            <a:ext cx="10241280" cy="594360"/>
          </a:xfrm>
          <a:prstGeom prst="rect">
            <a:avLst/>
          </a:prstGeom>
          <a:noFill/>
        </p:spPr>
        <p:txBody>
          <a:bodyPr wrap="square" lIns="27432" tIns="27432" rIns="27432" bIns="27432" anchor="t">
            <a:spAutoFit/>
          </a:bodyPr>
          <a:lstStyle/>
          <a:p>
            <a:pPr algn="l">
              <a:lnSpc>
                <a:spcPct val="100000"/>
              </a:lnSpc>
            </a:pPr>
            <a:r>
              <a:rPr sz="2100" b="0">
                <a:solidFill>
                  <a:srgbClr val="48606B"/>
                </a:solidFill>
                <a:latin typeface="Arial"/>
              </a:rPr>
              <a:t>Can player context improve prediction beyond Stockfish's view of the board?</a:t>
            </a:r>
          </a:p>
        </p:txBody>
      </p:sp>
      <p:sp>
        <p:nvSpPr>
          <p:cNvPr id="6" name="Rounded Rectangle 5"/>
          <p:cNvSpPr/>
          <p:nvPr/>
        </p:nvSpPr>
        <p:spPr>
          <a:xfrm>
            <a:off x="749808" y="4187952"/>
            <a:ext cx="10287000" cy="621792"/>
          </a:xfrm>
          <a:prstGeom prst="roundRect">
            <a:avLst/>
          </a:prstGeom>
          <a:solidFill>
            <a:srgbClr val="E6F1EF"/>
          </a:solidFill>
          <a:ln w="12700">
            <a:solidFill>
              <a:srgbClr val="E6F1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4370832"/>
            <a:ext cx="9875520" cy="256032"/>
          </a:xfrm>
          <a:prstGeom prst="rect">
            <a:avLst/>
          </a:prstGeom>
          <a:noFill/>
        </p:spPr>
        <p:txBody>
          <a:bodyPr wrap="square" lIns="27432" tIns="27432" rIns="27432" bIns="27432" anchor="t">
            <a:spAutoFit/>
          </a:bodyPr>
          <a:lstStyle/>
          <a:p>
            <a:pPr algn="ctr">
              <a:lnSpc>
                <a:spcPct val="100000"/>
              </a:lnSpc>
            </a:pPr>
            <a:r>
              <a:rPr sz="1700" b="1">
                <a:solidFill>
                  <a:srgbClr val="007E78"/>
                </a:solidFill>
                <a:latin typeface="Arial"/>
              </a:rPr>
              <a:t>BLACK WIN     ·     DRAW     ·     WHITE WIN</a:t>
            </a:r>
          </a:p>
        </p:txBody>
      </p:sp>
      <p:sp>
        <p:nvSpPr>
          <p:cNvPr id="8" name="TextBox 7"/>
          <p:cNvSpPr txBox="1"/>
          <p:nvPr/>
        </p:nvSpPr>
        <p:spPr>
          <a:xfrm>
            <a:off x="749808" y="6071616"/>
            <a:ext cx="10698480" cy="256032"/>
          </a:xfrm>
          <a:prstGeom prst="rect">
            <a:avLst/>
          </a:prstGeom>
          <a:noFill/>
        </p:spPr>
        <p:txBody>
          <a:bodyPr wrap="square" lIns="27432" tIns="27432" rIns="27432" bIns="27432" anchor="t">
            <a:spAutoFit/>
          </a:bodyPr>
          <a:lstStyle/>
          <a:p>
            <a:pPr algn="l">
              <a:lnSpc>
                <a:spcPct val="100000"/>
              </a:lnSpc>
            </a:pPr>
            <a:r>
              <a:rPr sz="1250" b="0">
                <a:solidFill>
                  <a:srgbClr val="71828A"/>
                </a:solidFill>
                <a:latin typeface="Arial"/>
              </a:rPr>
              <a:t>FANG ZHOU  ·  GU SHUCHENG  ·  YANG QINGYANG  ·  YANG TIANHAO  ·  ZHONG YUXUAN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38328"/>
            <a:ext cx="10698480" cy="502920"/>
          </a:xfrm>
          <a:prstGeom prst="rect">
            <a:avLst/>
          </a:prstGeom>
          <a:noFill/>
        </p:spPr>
        <p:txBody>
          <a:bodyPr wrap="square" lIns="27432" tIns="27432" rIns="27432" bIns="27432" anchor="t">
            <a:spAutoFit/>
          </a:bodyPr>
          <a:lstStyle/>
          <a:p>
            <a:pPr algn="l">
              <a:lnSpc>
                <a:spcPct val="100000"/>
              </a:lnSpc>
            </a:pPr>
            <a:r>
              <a:rPr sz="2800" b="1">
                <a:solidFill>
                  <a:srgbClr val="142C3B"/>
                </a:solidFill>
                <a:latin typeface="Arial"/>
              </a:rPr>
              <a:t>One question, three predictors</a:t>
            </a:r>
          </a:p>
        </p:txBody>
      </p:sp>
      <p:sp>
        <p:nvSpPr>
          <p:cNvPr id="3" name="Rectangle 2"/>
          <p:cNvSpPr/>
          <p:nvPr/>
        </p:nvSpPr>
        <p:spPr>
          <a:xfrm>
            <a:off x="685800" y="1225296"/>
            <a:ext cx="914400" cy="4572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28232"/>
            <a:ext cx="411480" cy="201168"/>
          </a:xfrm>
          <a:prstGeom prst="rect">
            <a:avLst/>
          </a:prstGeom>
          <a:noFill/>
        </p:spPr>
        <p:txBody>
          <a:bodyPr wrap="square" lIns="27432" tIns="27432" rIns="27432" bIns="27432" anchor="t">
            <a:spAutoFit/>
          </a:bodyPr>
          <a:lstStyle/>
          <a:p>
            <a:pPr algn="r">
              <a:lnSpc>
                <a:spcPct val="100000"/>
              </a:lnSpc>
            </a:pPr>
            <a:r>
              <a:rPr sz="1000" b="0">
                <a:solidFill>
                  <a:srgbClr val="71828A"/>
                </a:solidFill>
                <a:latin typeface="Arial"/>
              </a:rPr>
              <a:t>02</a:t>
            </a:r>
          </a:p>
        </p:txBody>
      </p:sp>
      <p:sp>
        <p:nvSpPr>
          <p:cNvPr id="5" name="TextBox 4"/>
          <p:cNvSpPr txBox="1"/>
          <p:nvPr/>
        </p:nvSpPr>
        <p:spPr>
          <a:xfrm>
            <a:off x="960120" y="1481328"/>
            <a:ext cx="10287000" cy="502920"/>
          </a:xfrm>
          <a:prstGeom prst="rect">
            <a:avLst/>
          </a:prstGeom>
          <a:noFill/>
        </p:spPr>
        <p:txBody>
          <a:bodyPr wrap="square" lIns="27432" tIns="27432" rIns="27432" bIns="27432" anchor="t">
            <a:spAutoFit/>
          </a:bodyPr>
          <a:lstStyle/>
          <a:p>
            <a:pPr algn="ctr">
              <a:lnSpc>
                <a:spcPct val="100000"/>
              </a:lnSpc>
            </a:pPr>
            <a:r>
              <a:rPr sz="2300" b="1">
                <a:solidFill>
                  <a:srgbClr val="142C3B"/>
                </a:solidFill>
                <a:latin typeface="Arial"/>
              </a:rPr>
              <a:t>Does human context add predictive information beyond the current position?</a:t>
            </a:r>
          </a:p>
        </p:txBody>
      </p:sp>
      <p:sp>
        <p:nvSpPr>
          <p:cNvPr id="6" name="Rounded Rectangle 5"/>
          <p:cNvSpPr/>
          <p:nvPr/>
        </p:nvSpPr>
        <p:spPr>
          <a:xfrm>
            <a:off x="694944" y="2359152"/>
            <a:ext cx="3401568" cy="1627632"/>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4944" y="2359152"/>
            <a:ext cx="73152" cy="1627632"/>
          </a:xfrm>
          <a:prstGeom prst="rect">
            <a:avLst/>
          </a:prstGeom>
          <a:solidFill>
            <a:srgbClr val="B55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2487168"/>
            <a:ext cx="3090672" cy="310896"/>
          </a:xfrm>
          <a:prstGeom prst="rect">
            <a:avLst/>
          </a:prstGeom>
          <a:noFill/>
        </p:spPr>
        <p:txBody>
          <a:bodyPr wrap="square" lIns="27432" tIns="27432" rIns="27432" bIns="27432" anchor="t">
            <a:spAutoFit/>
          </a:bodyPr>
          <a:lstStyle/>
          <a:p>
            <a:pPr algn="l">
              <a:lnSpc>
                <a:spcPct val="100000"/>
              </a:lnSpc>
            </a:pPr>
            <a:r>
              <a:rPr sz="1500" b="1">
                <a:solidFill>
                  <a:srgbClr val="B5524B"/>
                </a:solidFill>
                <a:latin typeface="Arial"/>
              </a:rPr>
              <a:t>DIRECT STOCKFISH WDL</a:t>
            </a:r>
          </a:p>
        </p:txBody>
      </p:sp>
      <p:sp>
        <p:nvSpPr>
          <p:cNvPr id="9" name="TextBox 8"/>
          <p:cNvSpPr txBox="1"/>
          <p:nvPr/>
        </p:nvSpPr>
        <p:spPr>
          <a:xfrm>
            <a:off x="896112" y="2862072"/>
            <a:ext cx="3090672" cy="1042416"/>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Engine W/D/L probabilities
No fitted classifier</a:t>
            </a:r>
          </a:p>
        </p:txBody>
      </p:sp>
      <p:sp>
        <p:nvSpPr>
          <p:cNvPr id="10" name="Chevron 9"/>
          <p:cNvSpPr/>
          <p:nvPr/>
        </p:nvSpPr>
        <p:spPr>
          <a:xfrm>
            <a:off x="4169663" y="2980944"/>
            <a:ext cx="502920" cy="292608"/>
          </a:xfrm>
          <a:prstGeom prst="chevron">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17136" y="2359152"/>
            <a:ext cx="3401568" cy="1627632"/>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17136" y="2359152"/>
            <a:ext cx="73152" cy="1627632"/>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18303" y="2487168"/>
            <a:ext cx="3090672" cy="310896"/>
          </a:xfrm>
          <a:prstGeom prst="rect">
            <a:avLst/>
          </a:prstGeom>
          <a:noFill/>
        </p:spPr>
        <p:txBody>
          <a:bodyPr wrap="square" lIns="27432" tIns="27432" rIns="27432" bIns="27432" anchor="t">
            <a:spAutoFit/>
          </a:bodyPr>
          <a:lstStyle/>
          <a:p>
            <a:pPr algn="l">
              <a:lnSpc>
                <a:spcPct val="100000"/>
              </a:lnSpc>
            </a:pPr>
            <a:r>
              <a:rPr sz="1500" b="1">
                <a:solidFill>
                  <a:srgbClr val="D89A3D"/>
                </a:solidFill>
                <a:latin typeface="Arial"/>
              </a:rPr>
              <a:t>POSITION-ONLY HGB</a:t>
            </a:r>
          </a:p>
        </p:txBody>
      </p:sp>
      <p:sp>
        <p:nvSpPr>
          <p:cNvPr id="14" name="TextBox 13"/>
          <p:cNvSpPr txBox="1"/>
          <p:nvPr/>
        </p:nvSpPr>
        <p:spPr>
          <a:xfrm>
            <a:off x="4718303" y="2862072"/>
            <a:ext cx="3090672" cy="1042416"/>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4 engine + 3 manual features
Learns human outcome mapping</a:t>
            </a:r>
          </a:p>
        </p:txBody>
      </p:sp>
      <p:sp>
        <p:nvSpPr>
          <p:cNvPr id="15" name="Chevron 14"/>
          <p:cNvSpPr/>
          <p:nvPr/>
        </p:nvSpPr>
        <p:spPr>
          <a:xfrm>
            <a:off x="7991855" y="2980944"/>
            <a:ext cx="502920" cy="292608"/>
          </a:xfrm>
          <a:prstGeom prst="chevron">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339327" y="2359152"/>
            <a:ext cx="3401568" cy="1627632"/>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39327" y="2359152"/>
            <a:ext cx="73152" cy="1627632"/>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40496" y="2487168"/>
            <a:ext cx="3090672" cy="310896"/>
          </a:xfrm>
          <a:prstGeom prst="rect">
            <a:avLst/>
          </a:prstGeom>
          <a:noFill/>
        </p:spPr>
        <p:txBody>
          <a:bodyPr wrap="square" lIns="27432" tIns="27432" rIns="27432" bIns="27432" anchor="t">
            <a:spAutoFit/>
          </a:bodyPr>
          <a:lstStyle/>
          <a:p>
            <a:pPr algn="l">
              <a:lnSpc>
                <a:spcPct val="100000"/>
              </a:lnSpc>
            </a:pPr>
            <a:r>
              <a:rPr sz="1500" b="1">
                <a:solidFill>
                  <a:srgbClr val="007E78"/>
                </a:solidFill>
                <a:latin typeface="Arial"/>
              </a:rPr>
              <a:t>HUMAN-CONTEXT HGB</a:t>
            </a:r>
          </a:p>
        </p:txBody>
      </p:sp>
      <p:sp>
        <p:nvSpPr>
          <p:cNvPr id="19" name="TextBox 18"/>
          <p:cNvSpPr txBox="1"/>
          <p:nvPr/>
        </p:nvSpPr>
        <p:spPr>
          <a:xfrm>
            <a:off x="8540496" y="2862072"/>
            <a:ext cx="3090672" cy="1042416"/>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Same HGB + 10 pre-match features
Prespecified main model</a:t>
            </a:r>
          </a:p>
        </p:txBody>
      </p:sp>
      <p:sp>
        <p:nvSpPr>
          <p:cNvPr id="20" name="Rounded Rectangle 19"/>
          <p:cNvSpPr/>
          <p:nvPr/>
        </p:nvSpPr>
        <p:spPr>
          <a:xfrm>
            <a:off x="1325880" y="4617720"/>
            <a:ext cx="9537192" cy="841248"/>
          </a:xfrm>
          <a:prstGeom prst="roundRect">
            <a:avLst/>
          </a:prstGeom>
          <a:solidFill>
            <a:srgbClr val="E6F1EF"/>
          </a:solidFill>
          <a:ln w="12700">
            <a:solidFill>
              <a:srgbClr val="E6F1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577340" y="4760240"/>
            <a:ext cx="9052560" cy="310896"/>
          </a:xfrm>
          <a:prstGeom prst="rect">
            <a:avLst/>
          </a:prstGeom>
          <a:noFill/>
        </p:spPr>
        <p:txBody>
          <a:bodyPr wrap="square" lIns="27432" tIns="27432" rIns="27432" bIns="27432" anchor="t">
            <a:spAutoFit/>
          </a:bodyPr>
          <a:lstStyle/>
          <a:p>
            <a:pPr algn="ctr">
              <a:lnSpc>
                <a:spcPct val="100000"/>
              </a:lnSpc>
            </a:pPr>
            <a:r>
              <a:rPr sz="1700" b="1" dirty="0">
                <a:solidFill>
                  <a:srgbClr val="007E78"/>
                </a:solidFill>
                <a:latin typeface="Arial"/>
              </a:rPr>
              <a:t>Controlled ablation: the two learned models use the same HGB settings; only human context changes.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38328"/>
            <a:ext cx="10698480" cy="502920"/>
          </a:xfrm>
          <a:prstGeom prst="rect">
            <a:avLst/>
          </a:prstGeom>
          <a:noFill/>
        </p:spPr>
        <p:txBody>
          <a:bodyPr wrap="square" lIns="27432" tIns="27432" rIns="27432" bIns="27432" anchor="t">
            <a:spAutoFit/>
          </a:bodyPr>
          <a:lstStyle/>
          <a:p>
            <a:pPr algn="l">
              <a:lnSpc>
                <a:spcPct val="100000"/>
              </a:lnSpc>
            </a:pPr>
            <a:r>
              <a:rPr sz="2800" b="1">
                <a:solidFill>
                  <a:srgbClr val="142C3B"/>
                </a:solidFill>
                <a:latin typeface="Arial"/>
              </a:rPr>
              <a:t>Data: 19,113 unique human games</a:t>
            </a:r>
          </a:p>
        </p:txBody>
      </p:sp>
      <p:sp>
        <p:nvSpPr>
          <p:cNvPr id="3" name="TextBox 2"/>
          <p:cNvSpPr txBox="1"/>
          <p:nvPr/>
        </p:nvSpPr>
        <p:spPr>
          <a:xfrm>
            <a:off x="685800" y="896112"/>
            <a:ext cx="10652760" cy="283464"/>
          </a:xfrm>
          <a:prstGeom prst="rect">
            <a:avLst/>
          </a:prstGeom>
          <a:noFill/>
        </p:spPr>
        <p:txBody>
          <a:bodyPr wrap="square" lIns="27432" tIns="27432" rIns="27432" bIns="27432" anchor="t">
            <a:spAutoFit/>
          </a:bodyPr>
          <a:lstStyle/>
          <a:p>
            <a:pPr algn="l">
              <a:lnSpc>
                <a:spcPct val="100000"/>
              </a:lnSpc>
            </a:pPr>
            <a:r>
              <a:rPr sz="1250" b="0">
                <a:solidFill>
                  <a:srgbClr val="71828A"/>
                </a:solidFill>
                <a:latin typeface="Arial"/>
              </a:rPr>
              <a:t>Public Lichess sample from Kaggle; all splits are made at game level</a:t>
            </a:r>
          </a:p>
        </p:txBody>
      </p:sp>
      <p:sp>
        <p:nvSpPr>
          <p:cNvPr id="4" name="Rectangle 3"/>
          <p:cNvSpPr/>
          <p:nvPr/>
        </p:nvSpPr>
        <p:spPr>
          <a:xfrm>
            <a:off x="685800" y="1225296"/>
            <a:ext cx="914400" cy="4572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28232"/>
            <a:ext cx="411480" cy="201168"/>
          </a:xfrm>
          <a:prstGeom prst="rect">
            <a:avLst/>
          </a:prstGeom>
          <a:noFill/>
        </p:spPr>
        <p:txBody>
          <a:bodyPr wrap="square" lIns="27432" tIns="27432" rIns="27432" bIns="27432" anchor="t">
            <a:spAutoFit/>
          </a:bodyPr>
          <a:lstStyle/>
          <a:p>
            <a:pPr algn="r">
              <a:lnSpc>
                <a:spcPct val="100000"/>
              </a:lnSpc>
            </a:pPr>
            <a:r>
              <a:rPr sz="1000" b="0">
                <a:solidFill>
                  <a:srgbClr val="71828A"/>
                </a:solidFill>
                <a:latin typeface="Arial"/>
              </a:rPr>
              <a:t>03</a:t>
            </a:r>
          </a:p>
        </p:txBody>
      </p:sp>
      <p:sp>
        <p:nvSpPr>
          <p:cNvPr id="6" name="Rectangle 5"/>
          <p:cNvSpPr/>
          <p:nvPr/>
        </p:nvSpPr>
        <p:spPr>
          <a:xfrm>
            <a:off x="594360" y="1408176"/>
            <a:ext cx="7690104" cy="4855464"/>
          </a:xfrm>
          <a:prstGeom prst="rect">
            <a:avLst/>
          </a:prstGeom>
          <a:solidFill>
            <a:srgbClr val="FFFFFF"/>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01_eda_overview.png"/>
          <p:cNvPicPr>
            <a:picLocks noChangeAspect="1"/>
          </p:cNvPicPr>
          <p:nvPr/>
        </p:nvPicPr>
        <p:blipFill>
          <a:blip r:embed="rId3"/>
          <a:stretch>
            <a:fillRect/>
          </a:stretch>
        </p:blipFill>
        <p:spPr>
          <a:xfrm>
            <a:off x="1067251" y="1435608"/>
            <a:ext cx="6744321" cy="4800600"/>
          </a:xfrm>
          <a:prstGeom prst="rect">
            <a:avLst/>
          </a:prstGeom>
        </p:spPr>
      </p:pic>
      <p:sp>
        <p:nvSpPr>
          <p:cNvPr id="8" name="Rounded Rectangle 7"/>
          <p:cNvSpPr/>
          <p:nvPr/>
        </p:nvSpPr>
        <p:spPr>
          <a:xfrm>
            <a:off x="8522208" y="1481328"/>
            <a:ext cx="2971800" cy="950976"/>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522208" y="1481328"/>
            <a:ext cx="73152" cy="950976"/>
          </a:xfrm>
          <a:prstGeom prst="rect">
            <a:avLst/>
          </a:prstGeom>
          <a:solidFill>
            <a:srgbClr val="486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95944" y="1527048"/>
            <a:ext cx="2660904" cy="402336"/>
          </a:xfrm>
          <a:prstGeom prst="rect">
            <a:avLst/>
          </a:prstGeom>
          <a:noFill/>
        </p:spPr>
        <p:txBody>
          <a:bodyPr wrap="square" lIns="27432" tIns="27432" rIns="27432" bIns="27432" anchor="t">
            <a:spAutoFit/>
          </a:bodyPr>
          <a:lstStyle/>
          <a:p>
            <a:pPr algn="l">
              <a:lnSpc>
                <a:spcPct val="100000"/>
              </a:lnSpc>
            </a:pPr>
            <a:r>
              <a:rPr sz="2400" b="1">
                <a:solidFill>
                  <a:srgbClr val="48606B"/>
                </a:solidFill>
                <a:latin typeface="Arial"/>
              </a:rPr>
              <a:t>20,058</a:t>
            </a:r>
          </a:p>
        </p:txBody>
      </p:sp>
      <p:sp>
        <p:nvSpPr>
          <p:cNvPr id="11" name="TextBox 10"/>
          <p:cNvSpPr txBox="1"/>
          <p:nvPr/>
        </p:nvSpPr>
        <p:spPr>
          <a:xfrm>
            <a:off x="8695944" y="1938528"/>
            <a:ext cx="2660904" cy="274320"/>
          </a:xfrm>
          <a:prstGeom prst="rect">
            <a:avLst/>
          </a:prstGeom>
          <a:noFill/>
        </p:spPr>
        <p:txBody>
          <a:bodyPr wrap="square" lIns="27432" tIns="27432" rIns="27432" bIns="27432" anchor="t">
            <a:spAutoFit/>
          </a:bodyPr>
          <a:lstStyle/>
          <a:p>
            <a:pPr algn="l">
              <a:lnSpc>
                <a:spcPct val="100000"/>
              </a:lnSpc>
            </a:pPr>
            <a:r>
              <a:rPr sz="1250" b="1">
                <a:solidFill>
                  <a:srgbClr val="71828A"/>
                </a:solidFill>
                <a:latin typeface="Arial"/>
              </a:rPr>
              <a:t>RAW ROWS</a:t>
            </a:r>
          </a:p>
        </p:txBody>
      </p:sp>
      <p:sp>
        <p:nvSpPr>
          <p:cNvPr id="12" name="TextBox 11"/>
          <p:cNvSpPr txBox="1"/>
          <p:nvPr/>
        </p:nvSpPr>
        <p:spPr>
          <a:xfrm>
            <a:off x="8695944" y="2155619"/>
            <a:ext cx="2660904" cy="18288"/>
          </a:xfrm>
          <a:prstGeom prst="rect">
            <a:avLst/>
          </a:prstGeom>
          <a:noFill/>
        </p:spPr>
        <p:txBody>
          <a:bodyPr wrap="square" lIns="27432" tIns="27432" rIns="27432" bIns="27432" anchor="t">
            <a:spAutoFit/>
          </a:bodyPr>
          <a:lstStyle/>
          <a:p>
            <a:pPr algn="l">
              <a:lnSpc>
                <a:spcPct val="100000"/>
              </a:lnSpc>
            </a:pPr>
            <a:r>
              <a:rPr sz="1150" b="0" dirty="0">
                <a:solidFill>
                  <a:srgbClr val="48606B"/>
                </a:solidFill>
                <a:latin typeface="Arial"/>
              </a:rPr>
              <a:t>Before duplicate-ID removal</a:t>
            </a:r>
          </a:p>
        </p:txBody>
      </p:sp>
      <p:sp>
        <p:nvSpPr>
          <p:cNvPr id="13" name="Rounded Rectangle 12"/>
          <p:cNvSpPr/>
          <p:nvPr/>
        </p:nvSpPr>
        <p:spPr>
          <a:xfrm>
            <a:off x="8522208" y="2596896"/>
            <a:ext cx="2971800" cy="950976"/>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522208" y="2596896"/>
            <a:ext cx="73152" cy="950976"/>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95944" y="2642616"/>
            <a:ext cx="2660904" cy="402336"/>
          </a:xfrm>
          <a:prstGeom prst="rect">
            <a:avLst/>
          </a:prstGeom>
          <a:noFill/>
        </p:spPr>
        <p:txBody>
          <a:bodyPr wrap="square" lIns="27432" tIns="27432" rIns="27432" bIns="27432" anchor="t">
            <a:spAutoFit/>
          </a:bodyPr>
          <a:lstStyle/>
          <a:p>
            <a:pPr algn="l">
              <a:lnSpc>
                <a:spcPct val="100000"/>
              </a:lnSpc>
            </a:pPr>
            <a:r>
              <a:rPr sz="2400" b="1">
                <a:solidFill>
                  <a:srgbClr val="007E78"/>
                </a:solidFill>
                <a:latin typeface="Arial"/>
              </a:rPr>
              <a:t>19,113</a:t>
            </a:r>
          </a:p>
        </p:txBody>
      </p:sp>
      <p:sp>
        <p:nvSpPr>
          <p:cNvPr id="16" name="TextBox 15"/>
          <p:cNvSpPr txBox="1"/>
          <p:nvPr/>
        </p:nvSpPr>
        <p:spPr>
          <a:xfrm>
            <a:off x="8695944" y="3054095"/>
            <a:ext cx="2660904" cy="274320"/>
          </a:xfrm>
          <a:prstGeom prst="rect">
            <a:avLst/>
          </a:prstGeom>
          <a:noFill/>
        </p:spPr>
        <p:txBody>
          <a:bodyPr wrap="square" lIns="27432" tIns="27432" rIns="27432" bIns="27432" anchor="t">
            <a:spAutoFit/>
          </a:bodyPr>
          <a:lstStyle/>
          <a:p>
            <a:pPr algn="l">
              <a:lnSpc>
                <a:spcPct val="100000"/>
              </a:lnSpc>
            </a:pPr>
            <a:r>
              <a:rPr sz="1250" b="1">
                <a:solidFill>
                  <a:srgbClr val="71828A"/>
                </a:solidFill>
                <a:latin typeface="Arial"/>
              </a:rPr>
              <a:t>CLEAN GAMES</a:t>
            </a:r>
          </a:p>
        </p:txBody>
      </p:sp>
      <p:sp>
        <p:nvSpPr>
          <p:cNvPr id="17" name="TextBox 16"/>
          <p:cNvSpPr txBox="1"/>
          <p:nvPr/>
        </p:nvSpPr>
        <p:spPr>
          <a:xfrm>
            <a:off x="8695944" y="3271187"/>
            <a:ext cx="2660904" cy="18288"/>
          </a:xfrm>
          <a:prstGeom prst="rect">
            <a:avLst/>
          </a:prstGeom>
          <a:noFill/>
        </p:spPr>
        <p:txBody>
          <a:bodyPr wrap="square" lIns="27432" tIns="27432" rIns="27432" bIns="27432" anchor="t">
            <a:spAutoFit/>
          </a:bodyPr>
          <a:lstStyle/>
          <a:p>
            <a:pPr algn="l">
              <a:lnSpc>
                <a:spcPct val="100000"/>
              </a:lnSpc>
            </a:pPr>
            <a:r>
              <a:rPr sz="1150" b="0">
                <a:solidFill>
                  <a:srgbClr val="48606B"/>
                </a:solidFill>
                <a:latin typeface="Arial"/>
              </a:rPr>
              <a:t>945 duplicate IDs removed</a:t>
            </a:r>
          </a:p>
        </p:txBody>
      </p:sp>
      <p:sp>
        <p:nvSpPr>
          <p:cNvPr id="18" name="Rounded Rectangle 17"/>
          <p:cNvSpPr/>
          <p:nvPr/>
        </p:nvSpPr>
        <p:spPr>
          <a:xfrm>
            <a:off x="8522208" y="3712463"/>
            <a:ext cx="2971800" cy="950976"/>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522208" y="3712463"/>
            <a:ext cx="73152" cy="950976"/>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95944" y="3758184"/>
            <a:ext cx="2660904" cy="402336"/>
          </a:xfrm>
          <a:prstGeom prst="rect">
            <a:avLst/>
          </a:prstGeom>
          <a:noFill/>
        </p:spPr>
        <p:txBody>
          <a:bodyPr wrap="square" lIns="27432" tIns="27432" rIns="27432" bIns="27432" anchor="t">
            <a:spAutoFit/>
          </a:bodyPr>
          <a:lstStyle/>
          <a:p>
            <a:pPr algn="l">
              <a:lnSpc>
                <a:spcPct val="100000"/>
              </a:lnSpc>
            </a:pPr>
            <a:r>
              <a:rPr sz="2400" b="1">
                <a:solidFill>
                  <a:srgbClr val="D89A3D"/>
                </a:solidFill>
                <a:latin typeface="Arial"/>
              </a:rPr>
              <a:t>4.6%</a:t>
            </a:r>
          </a:p>
        </p:txBody>
      </p:sp>
      <p:sp>
        <p:nvSpPr>
          <p:cNvPr id="21" name="TextBox 20"/>
          <p:cNvSpPr txBox="1"/>
          <p:nvPr/>
        </p:nvSpPr>
        <p:spPr>
          <a:xfrm>
            <a:off x="8695944" y="4169664"/>
            <a:ext cx="2660904" cy="274320"/>
          </a:xfrm>
          <a:prstGeom prst="rect">
            <a:avLst/>
          </a:prstGeom>
          <a:noFill/>
        </p:spPr>
        <p:txBody>
          <a:bodyPr wrap="square" lIns="27432" tIns="27432" rIns="27432" bIns="27432" anchor="t">
            <a:spAutoFit/>
          </a:bodyPr>
          <a:lstStyle/>
          <a:p>
            <a:pPr algn="l">
              <a:lnSpc>
                <a:spcPct val="100000"/>
              </a:lnSpc>
            </a:pPr>
            <a:r>
              <a:rPr sz="1250" b="1">
                <a:solidFill>
                  <a:srgbClr val="71828A"/>
                </a:solidFill>
                <a:latin typeface="Arial"/>
              </a:rPr>
              <a:t>DRAW SHARE</a:t>
            </a:r>
          </a:p>
        </p:txBody>
      </p:sp>
      <p:sp>
        <p:nvSpPr>
          <p:cNvPr id="22" name="TextBox 21"/>
          <p:cNvSpPr txBox="1"/>
          <p:nvPr/>
        </p:nvSpPr>
        <p:spPr>
          <a:xfrm>
            <a:off x="8695944" y="4386755"/>
            <a:ext cx="2660904" cy="18288"/>
          </a:xfrm>
          <a:prstGeom prst="rect">
            <a:avLst/>
          </a:prstGeom>
          <a:noFill/>
        </p:spPr>
        <p:txBody>
          <a:bodyPr wrap="square" lIns="27432" tIns="27432" rIns="27432" bIns="27432" anchor="t">
            <a:spAutoFit/>
          </a:bodyPr>
          <a:lstStyle/>
          <a:p>
            <a:pPr algn="l">
              <a:lnSpc>
                <a:spcPct val="100000"/>
              </a:lnSpc>
            </a:pPr>
            <a:r>
              <a:rPr sz="1150" b="0">
                <a:solidFill>
                  <a:srgbClr val="48606B"/>
                </a:solidFill>
                <a:latin typeface="Arial"/>
              </a:rPr>
              <a:t>888 draws; class imbalance matters</a:t>
            </a:r>
          </a:p>
        </p:txBody>
      </p:sp>
      <p:sp>
        <p:nvSpPr>
          <p:cNvPr id="23" name="Rounded Rectangle 22"/>
          <p:cNvSpPr/>
          <p:nvPr/>
        </p:nvSpPr>
        <p:spPr>
          <a:xfrm>
            <a:off x="8522208" y="4828032"/>
            <a:ext cx="2971800" cy="950976"/>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522208" y="4828032"/>
            <a:ext cx="73152" cy="950976"/>
          </a:xfrm>
          <a:prstGeom prst="rect">
            <a:avLst/>
          </a:prstGeom>
          <a:solidFill>
            <a:srgbClr val="14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95944" y="4873752"/>
            <a:ext cx="2660904" cy="402336"/>
          </a:xfrm>
          <a:prstGeom prst="rect">
            <a:avLst/>
          </a:prstGeom>
          <a:noFill/>
        </p:spPr>
        <p:txBody>
          <a:bodyPr wrap="square" lIns="27432" tIns="27432" rIns="27432" bIns="27432" anchor="t">
            <a:spAutoFit/>
          </a:bodyPr>
          <a:lstStyle/>
          <a:p>
            <a:pPr algn="l">
              <a:lnSpc>
                <a:spcPct val="100000"/>
              </a:lnSpc>
            </a:pPr>
            <a:r>
              <a:rPr sz="2400" b="1">
                <a:solidFill>
                  <a:srgbClr val="142C3B"/>
                </a:solidFill>
                <a:latin typeface="Arial"/>
              </a:rPr>
              <a:t>70 / 15 / 15</a:t>
            </a:r>
          </a:p>
        </p:txBody>
      </p:sp>
      <p:sp>
        <p:nvSpPr>
          <p:cNvPr id="26" name="TextBox 25"/>
          <p:cNvSpPr txBox="1"/>
          <p:nvPr/>
        </p:nvSpPr>
        <p:spPr>
          <a:xfrm>
            <a:off x="8695944" y="5285232"/>
            <a:ext cx="2660904" cy="274320"/>
          </a:xfrm>
          <a:prstGeom prst="rect">
            <a:avLst/>
          </a:prstGeom>
          <a:noFill/>
        </p:spPr>
        <p:txBody>
          <a:bodyPr wrap="square" lIns="27432" tIns="27432" rIns="27432" bIns="27432" anchor="t">
            <a:spAutoFit/>
          </a:bodyPr>
          <a:lstStyle/>
          <a:p>
            <a:pPr algn="l">
              <a:lnSpc>
                <a:spcPct val="100000"/>
              </a:lnSpc>
            </a:pPr>
            <a:r>
              <a:rPr sz="1250" b="1">
                <a:solidFill>
                  <a:srgbClr val="71828A"/>
                </a:solidFill>
                <a:latin typeface="Arial"/>
              </a:rPr>
              <a:t>GAME SPLIT</a:t>
            </a:r>
          </a:p>
        </p:txBody>
      </p:sp>
      <p:sp>
        <p:nvSpPr>
          <p:cNvPr id="27" name="TextBox 26"/>
          <p:cNvSpPr txBox="1"/>
          <p:nvPr/>
        </p:nvSpPr>
        <p:spPr>
          <a:xfrm>
            <a:off x="8695944" y="5502323"/>
            <a:ext cx="2660904" cy="18288"/>
          </a:xfrm>
          <a:prstGeom prst="rect">
            <a:avLst/>
          </a:prstGeom>
          <a:noFill/>
        </p:spPr>
        <p:txBody>
          <a:bodyPr wrap="square" lIns="27432" tIns="27432" rIns="27432" bIns="27432" anchor="t">
            <a:spAutoFit/>
          </a:bodyPr>
          <a:lstStyle/>
          <a:p>
            <a:pPr algn="l">
              <a:lnSpc>
                <a:spcPct val="100000"/>
              </a:lnSpc>
            </a:pPr>
            <a:r>
              <a:rPr sz="1150" b="0">
                <a:solidFill>
                  <a:srgbClr val="48606B"/>
                </a:solidFill>
                <a:latin typeface="Arial"/>
              </a:rPr>
              <a:t>Train / validation / test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38328"/>
            <a:ext cx="10698480" cy="502920"/>
          </a:xfrm>
          <a:prstGeom prst="rect">
            <a:avLst/>
          </a:prstGeom>
          <a:noFill/>
        </p:spPr>
        <p:txBody>
          <a:bodyPr wrap="square" lIns="27432" tIns="27432" rIns="27432" bIns="27432" anchor="t">
            <a:spAutoFit/>
          </a:bodyPr>
          <a:lstStyle/>
          <a:p>
            <a:pPr algn="l">
              <a:lnSpc>
                <a:spcPct val="100000"/>
              </a:lnSpc>
            </a:pPr>
            <a:r>
              <a:rPr sz="2800" b="1">
                <a:solidFill>
                  <a:srgbClr val="142C3B"/>
                </a:solidFill>
                <a:latin typeface="Arial"/>
              </a:rPr>
              <a:t>Progress without future leakage</a:t>
            </a:r>
          </a:p>
        </p:txBody>
      </p:sp>
      <p:sp>
        <p:nvSpPr>
          <p:cNvPr id="3" name="TextBox 2"/>
          <p:cNvSpPr txBox="1"/>
          <p:nvPr/>
        </p:nvSpPr>
        <p:spPr>
          <a:xfrm>
            <a:off x="685800" y="896112"/>
            <a:ext cx="10652760" cy="283464"/>
          </a:xfrm>
          <a:prstGeom prst="rect">
            <a:avLst/>
          </a:prstGeom>
          <a:noFill/>
        </p:spPr>
        <p:txBody>
          <a:bodyPr wrap="square" lIns="27432" tIns="27432" rIns="27432" bIns="27432" anchor="t">
            <a:spAutoFit/>
          </a:bodyPr>
          <a:lstStyle/>
          <a:p>
            <a:pPr algn="l">
              <a:lnSpc>
                <a:spcPct val="100000"/>
              </a:lnSpc>
            </a:pPr>
            <a:r>
              <a:rPr sz="1250" b="0">
                <a:solidFill>
                  <a:srgbClr val="71828A"/>
                </a:solidFill>
                <a:latin typeface="Arial"/>
              </a:rPr>
              <a:t>Percentage is useful for reporting—but unsafe as a model input</a:t>
            </a:r>
          </a:p>
        </p:txBody>
      </p:sp>
      <p:sp>
        <p:nvSpPr>
          <p:cNvPr id="4" name="Rectangle 3"/>
          <p:cNvSpPr/>
          <p:nvPr/>
        </p:nvSpPr>
        <p:spPr>
          <a:xfrm>
            <a:off x="685800" y="1225296"/>
            <a:ext cx="914400" cy="4572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28232"/>
            <a:ext cx="411480" cy="201168"/>
          </a:xfrm>
          <a:prstGeom prst="rect">
            <a:avLst/>
          </a:prstGeom>
          <a:noFill/>
        </p:spPr>
        <p:txBody>
          <a:bodyPr wrap="square" lIns="27432" tIns="27432" rIns="27432" bIns="27432" anchor="t">
            <a:spAutoFit/>
          </a:bodyPr>
          <a:lstStyle/>
          <a:p>
            <a:pPr algn="r">
              <a:lnSpc>
                <a:spcPct val="100000"/>
              </a:lnSpc>
            </a:pPr>
            <a:r>
              <a:rPr sz="1000" b="0">
                <a:solidFill>
                  <a:srgbClr val="71828A"/>
                </a:solidFill>
                <a:latin typeface="Arial"/>
              </a:rPr>
              <a:t>04</a:t>
            </a:r>
          </a:p>
        </p:txBody>
      </p:sp>
      <p:sp>
        <p:nvSpPr>
          <p:cNvPr id="6" name="Rounded Rectangle 5"/>
          <p:cNvSpPr/>
          <p:nvPr/>
        </p:nvSpPr>
        <p:spPr>
          <a:xfrm>
            <a:off x="758952" y="1572768"/>
            <a:ext cx="5148072" cy="1389888"/>
          </a:xfrm>
          <a:prstGeom prst="roundRect">
            <a:avLst/>
          </a:prstGeom>
          <a:solidFill>
            <a:srgbClr val="FFF3F1"/>
          </a:solidFill>
          <a:ln w="12700">
            <a:solidFill>
              <a:srgbClr val="EAC9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792224"/>
            <a:ext cx="2194560" cy="256032"/>
          </a:xfrm>
          <a:prstGeom prst="rect">
            <a:avLst/>
          </a:prstGeom>
          <a:noFill/>
        </p:spPr>
        <p:txBody>
          <a:bodyPr wrap="square" lIns="27432" tIns="27432" rIns="27432" bIns="27432" anchor="t">
            <a:spAutoFit/>
          </a:bodyPr>
          <a:lstStyle/>
          <a:p>
            <a:pPr algn="l">
              <a:lnSpc>
                <a:spcPct val="100000"/>
              </a:lnSpc>
            </a:pPr>
            <a:r>
              <a:rPr sz="1400" b="1">
                <a:solidFill>
                  <a:srgbClr val="B5524B"/>
                </a:solidFill>
                <a:latin typeface="Arial"/>
              </a:rPr>
              <a:t>UNSAFE INPUT</a:t>
            </a:r>
          </a:p>
        </p:txBody>
      </p:sp>
      <p:sp>
        <p:nvSpPr>
          <p:cNvPr id="8" name="TextBox 7"/>
          <p:cNvSpPr txBox="1"/>
          <p:nvPr/>
        </p:nvSpPr>
        <p:spPr>
          <a:xfrm>
            <a:off x="987552" y="2148840"/>
            <a:ext cx="4480560" cy="310896"/>
          </a:xfrm>
          <a:prstGeom prst="rect">
            <a:avLst/>
          </a:prstGeom>
          <a:noFill/>
        </p:spPr>
        <p:txBody>
          <a:bodyPr wrap="square" lIns="27432" tIns="27432" rIns="27432" bIns="27432" anchor="t">
            <a:spAutoFit/>
          </a:bodyPr>
          <a:lstStyle/>
          <a:p>
            <a:pPr algn="l">
              <a:lnSpc>
                <a:spcPct val="100000"/>
              </a:lnSpc>
            </a:pPr>
            <a:r>
              <a:rPr sz="1800" b="1">
                <a:solidFill>
                  <a:srgbClr val="142C3B"/>
                </a:solidFill>
                <a:latin typeface="Arial"/>
              </a:rPr>
              <a:t>progress %  =  current ply  ÷  final ply</a:t>
            </a:r>
          </a:p>
        </p:txBody>
      </p:sp>
      <p:sp>
        <p:nvSpPr>
          <p:cNvPr id="9" name="TextBox 8"/>
          <p:cNvSpPr txBox="1"/>
          <p:nvPr/>
        </p:nvSpPr>
        <p:spPr>
          <a:xfrm>
            <a:off x="987552" y="2532888"/>
            <a:ext cx="4526280" cy="228600"/>
          </a:xfrm>
          <a:prstGeom prst="rect">
            <a:avLst/>
          </a:prstGeom>
          <a:noFill/>
        </p:spPr>
        <p:txBody>
          <a:bodyPr wrap="square" lIns="27432" tIns="27432" rIns="27432" bIns="27432" anchor="t">
            <a:spAutoFit/>
          </a:bodyPr>
          <a:lstStyle/>
          <a:p>
            <a:pPr algn="l">
              <a:lnSpc>
                <a:spcPct val="100000"/>
              </a:lnSpc>
            </a:pPr>
            <a:r>
              <a:rPr sz="1250" b="0">
                <a:solidFill>
                  <a:srgbClr val="B5524B"/>
                </a:solidFill>
                <a:latin typeface="Arial"/>
              </a:rPr>
              <a:t>Final game length is unknown live → future information</a:t>
            </a:r>
          </a:p>
        </p:txBody>
      </p:sp>
      <p:sp>
        <p:nvSpPr>
          <p:cNvPr id="10" name="Rounded Rectangle 9"/>
          <p:cNvSpPr/>
          <p:nvPr/>
        </p:nvSpPr>
        <p:spPr>
          <a:xfrm>
            <a:off x="6236208" y="1572768"/>
            <a:ext cx="5148072" cy="1389888"/>
          </a:xfrm>
          <a:prstGeom prst="roundRect">
            <a:avLst/>
          </a:prstGeom>
          <a:solidFill>
            <a:srgbClr val="E6F1EF"/>
          </a:solidFill>
          <a:ln w="12700">
            <a:solidFill>
              <a:srgbClr val="B9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3952" y="1792224"/>
            <a:ext cx="2194560" cy="256032"/>
          </a:xfrm>
          <a:prstGeom prst="rect">
            <a:avLst/>
          </a:prstGeom>
          <a:noFill/>
        </p:spPr>
        <p:txBody>
          <a:bodyPr wrap="square" lIns="27432" tIns="27432" rIns="27432" bIns="27432" anchor="t">
            <a:spAutoFit/>
          </a:bodyPr>
          <a:lstStyle/>
          <a:p>
            <a:pPr algn="l">
              <a:lnSpc>
                <a:spcPct val="100000"/>
              </a:lnSpc>
            </a:pPr>
            <a:r>
              <a:rPr sz="1400" b="1">
                <a:solidFill>
                  <a:srgbClr val="007E78"/>
                </a:solidFill>
                <a:latin typeface="Arial"/>
              </a:rPr>
              <a:t>SAFE INPUT</a:t>
            </a:r>
          </a:p>
        </p:txBody>
      </p:sp>
      <p:sp>
        <p:nvSpPr>
          <p:cNvPr id="12" name="TextBox 11"/>
          <p:cNvSpPr txBox="1"/>
          <p:nvPr/>
        </p:nvSpPr>
        <p:spPr>
          <a:xfrm>
            <a:off x="6473952" y="2148840"/>
            <a:ext cx="4480560" cy="310896"/>
          </a:xfrm>
          <a:prstGeom prst="rect">
            <a:avLst/>
          </a:prstGeom>
          <a:noFill/>
        </p:spPr>
        <p:txBody>
          <a:bodyPr wrap="square" lIns="27432" tIns="27432" rIns="27432" bIns="27432" anchor="t">
            <a:spAutoFit/>
          </a:bodyPr>
          <a:lstStyle/>
          <a:p>
            <a:pPr algn="l">
              <a:lnSpc>
                <a:spcPct val="100000"/>
              </a:lnSpc>
            </a:pPr>
            <a:r>
              <a:rPr sz="2000" b="1">
                <a:solidFill>
                  <a:srgbClr val="142C3B"/>
                </a:solidFill>
                <a:latin typeface="Arial"/>
              </a:rPr>
              <a:t>ply  =  half-moves already observed</a:t>
            </a:r>
          </a:p>
        </p:txBody>
      </p:sp>
      <p:sp>
        <p:nvSpPr>
          <p:cNvPr id="13" name="TextBox 12"/>
          <p:cNvSpPr txBox="1"/>
          <p:nvPr/>
        </p:nvSpPr>
        <p:spPr>
          <a:xfrm>
            <a:off x="6473952" y="2532888"/>
            <a:ext cx="4526280" cy="228600"/>
          </a:xfrm>
          <a:prstGeom prst="rect">
            <a:avLst/>
          </a:prstGeom>
          <a:noFill/>
        </p:spPr>
        <p:txBody>
          <a:bodyPr wrap="square" lIns="27432" tIns="27432" rIns="27432" bIns="27432" anchor="t">
            <a:spAutoFit/>
          </a:bodyPr>
          <a:lstStyle/>
          <a:p>
            <a:pPr algn="l">
              <a:lnSpc>
                <a:spcPct val="100000"/>
              </a:lnSpc>
            </a:pPr>
            <a:r>
              <a:rPr sz="1250" b="0">
                <a:solidFill>
                  <a:srgbClr val="007E78"/>
                </a:solidFill>
                <a:latin typeface="Arial"/>
              </a:rPr>
              <a:t>Observable at prediction time</a:t>
            </a:r>
          </a:p>
        </p:txBody>
      </p:sp>
      <p:sp>
        <p:nvSpPr>
          <p:cNvPr id="14" name="TextBox 13"/>
          <p:cNvSpPr txBox="1"/>
          <p:nvPr/>
        </p:nvSpPr>
        <p:spPr>
          <a:xfrm>
            <a:off x="777240" y="3429000"/>
            <a:ext cx="4754880" cy="274320"/>
          </a:xfrm>
          <a:prstGeom prst="rect">
            <a:avLst/>
          </a:prstGeom>
          <a:noFill/>
        </p:spPr>
        <p:txBody>
          <a:bodyPr wrap="square" lIns="27432" tIns="27432" rIns="27432" bIns="27432" anchor="t">
            <a:spAutoFit/>
          </a:bodyPr>
          <a:lstStyle/>
          <a:p>
            <a:pPr algn="l">
              <a:lnSpc>
                <a:spcPct val="100000"/>
              </a:lnSpc>
            </a:pPr>
            <a:r>
              <a:rPr sz="1700" b="1">
                <a:solidFill>
                  <a:srgbClr val="142C3B"/>
                </a:solidFill>
                <a:latin typeface="Arial"/>
              </a:rPr>
              <a:t>Leakage-safe training and validation snapshots</a:t>
            </a:r>
          </a:p>
        </p:txBody>
      </p:sp>
      <p:sp>
        <p:nvSpPr>
          <p:cNvPr id="15" name="Rectangle 14"/>
          <p:cNvSpPr/>
          <p:nvPr/>
        </p:nvSpPr>
        <p:spPr>
          <a:xfrm>
            <a:off x="1005840" y="4160520"/>
            <a:ext cx="10012680" cy="36576"/>
          </a:xfrm>
          <a:prstGeom prst="rect">
            <a:avLst/>
          </a:prstGeom>
          <a:solidFill>
            <a:srgbClr val="D7E2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43000" y="4041648"/>
            <a:ext cx="274320" cy="274320"/>
          </a:xfrm>
          <a:prstGeom prst="ellipse">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5256" y="4434840"/>
            <a:ext cx="768096" cy="228600"/>
          </a:xfrm>
          <a:prstGeom prst="rect">
            <a:avLst/>
          </a:prstGeom>
          <a:noFill/>
        </p:spPr>
        <p:txBody>
          <a:bodyPr wrap="square" lIns="27432" tIns="27432" rIns="27432" bIns="27432" anchor="t">
            <a:spAutoFit/>
          </a:bodyPr>
          <a:lstStyle/>
          <a:p>
            <a:pPr algn="ctr">
              <a:lnSpc>
                <a:spcPct val="100000"/>
              </a:lnSpc>
            </a:pPr>
            <a:r>
              <a:rPr sz="1250" b="1">
                <a:solidFill>
                  <a:srgbClr val="48606B"/>
                </a:solidFill>
                <a:latin typeface="Arial"/>
              </a:rPr>
              <a:t>ply 4</a:t>
            </a:r>
          </a:p>
        </p:txBody>
      </p:sp>
      <p:sp>
        <p:nvSpPr>
          <p:cNvPr id="18" name="Oval 17"/>
          <p:cNvSpPr/>
          <p:nvPr/>
        </p:nvSpPr>
        <p:spPr>
          <a:xfrm>
            <a:off x="2331720" y="4041648"/>
            <a:ext cx="274320" cy="274320"/>
          </a:xfrm>
          <a:prstGeom prst="ellipse">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093976" y="4434840"/>
            <a:ext cx="768096" cy="228600"/>
          </a:xfrm>
          <a:prstGeom prst="rect">
            <a:avLst/>
          </a:prstGeom>
          <a:noFill/>
        </p:spPr>
        <p:txBody>
          <a:bodyPr wrap="square" lIns="27432" tIns="27432" rIns="27432" bIns="27432" anchor="t">
            <a:spAutoFit/>
          </a:bodyPr>
          <a:lstStyle/>
          <a:p>
            <a:pPr algn="ctr">
              <a:lnSpc>
                <a:spcPct val="100000"/>
              </a:lnSpc>
            </a:pPr>
            <a:r>
              <a:rPr sz="1250" b="1">
                <a:solidFill>
                  <a:srgbClr val="48606B"/>
                </a:solidFill>
                <a:latin typeface="Arial"/>
              </a:rPr>
              <a:t>ply 8</a:t>
            </a:r>
          </a:p>
        </p:txBody>
      </p:sp>
      <p:sp>
        <p:nvSpPr>
          <p:cNvPr id="20" name="Oval 19"/>
          <p:cNvSpPr/>
          <p:nvPr/>
        </p:nvSpPr>
        <p:spPr>
          <a:xfrm>
            <a:off x="3794760" y="4041648"/>
            <a:ext cx="274320" cy="274320"/>
          </a:xfrm>
          <a:prstGeom prst="ellipse">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557016" y="4434840"/>
            <a:ext cx="768096" cy="228600"/>
          </a:xfrm>
          <a:prstGeom prst="rect">
            <a:avLst/>
          </a:prstGeom>
          <a:noFill/>
        </p:spPr>
        <p:txBody>
          <a:bodyPr wrap="square" lIns="27432" tIns="27432" rIns="27432" bIns="27432" anchor="t">
            <a:spAutoFit/>
          </a:bodyPr>
          <a:lstStyle/>
          <a:p>
            <a:pPr algn="ctr">
              <a:lnSpc>
                <a:spcPct val="100000"/>
              </a:lnSpc>
            </a:pPr>
            <a:r>
              <a:rPr sz="1250" b="1">
                <a:solidFill>
                  <a:srgbClr val="48606B"/>
                </a:solidFill>
                <a:latin typeface="Arial"/>
              </a:rPr>
              <a:t>ply 16</a:t>
            </a:r>
          </a:p>
        </p:txBody>
      </p:sp>
      <p:sp>
        <p:nvSpPr>
          <p:cNvPr id="22" name="Oval 21"/>
          <p:cNvSpPr/>
          <p:nvPr/>
        </p:nvSpPr>
        <p:spPr>
          <a:xfrm>
            <a:off x="5257800" y="4041648"/>
            <a:ext cx="274320" cy="274320"/>
          </a:xfrm>
          <a:prstGeom prst="ellipse">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0056" y="4434840"/>
            <a:ext cx="768096" cy="228600"/>
          </a:xfrm>
          <a:prstGeom prst="rect">
            <a:avLst/>
          </a:prstGeom>
          <a:noFill/>
        </p:spPr>
        <p:txBody>
          <a:bodyPr wrap="square" lIns="27432" tIns="27432" rIns="27432" bIns="27432" anchor="t">
            <a:spAutoFit/>
          </a:bodyPr>
          <a:lstStyle/>
          <a:p>
            <a:pPr algn="ctr">
              <a:lnSpc>
                <a:spcPct val="100000"/>
              </a:lnSpc>
            </a:pPr>
            <a:r>
              <a:rPr sz="1250" b="1">
                <a:solidFill>
                  <a:srgbClr val="48606B"/>
                </a:solidFill>
                <a:latin typeface="Arial"/>
              </a:rPr>
              <a:t>ply 24</a:t>
            </a:r>
          </a:p>
        </p:txBody>
      </p:sp>
      <p:sp>
        <p:nvSpPr>
          <p:cNvPr id="24" name="Oval 23"/>
          <p:cNvSpPr/>
          <p:nvPr/>
        </p:nvSpPr>
        <p:spPr>
          <a:xfrm>
            <a:off x="6720840" y="4041648"/>
            <a:ext cx="274320" cy="274320"/>
          </a:xfrm>
          <a:prstGeom prst="ellipse">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83096" y="4434840"/>
            <a:ext cx="768096" cy="228600"/>
          </a:xfrm>
          <a:prstGeom prst="rect">
            <a:avLst/>
          </a:prstGeom>
          <a:noFill/>
        </p:spPr>
        <p:txBody>
          <a:bodyPr wrap="square" lIns="27432" tIns="27432" rIns="27432" bIns="27432" anchor="t">
            <a:spAutoFit/>
          </a:bodyPr>
          <a:lstStyle/>
          <a:p>
            <a:pPr algn="ctr">
              <a:lnSpc>
                <a:spcPct val="100000"/>
              </a:lnSpc>
            </a:pPr>
            <a:r>
              <a:rPr sz="1250" b="1">
                <a:solidFill>
                  <a:srgbClr val="48606B"/>
                </a:solidFill>
                <a:latin typeface="Arial"/>
              </a:rPr>
              <a:t>…</a:t>
            </a:r>
          </a:p>
        </p:txBody>
      </p:sp>
      <p:sp>
        <p:nvSpPr>
          <p:cNvPr id="26" name="Oval 25"/>
          <p:cNvSpPr/>
          <p:nvPr/>
        </p:nvSpPr>
        <p:spPr>
          <a:xfrm>
            <a:off x="8458200" y="4041648"/>
            <a:ext cx="274320" cy="274320"/>
          </a:xfrm>
          <a:prstGeom prst="ellipse">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0456" y="4434840"/>
            <a:ext cx="768096" cy="228600"/>
          </a:xfrm>
          <a:prstGeom prst="rect">
            <a:avLst/>
          </a:prstGeom>
          <a:noFill/>
        </p:spPr>
        <p:txBody>
          <a:bodyPr wrap="square" lIns="27432" tIns="27432" rIns="27432" bIns="27432" anchor="t">
            <a:spAutoFit/>
          </a:bodyPr>
          <a:lstStyle/>
          <a:p>
            <a:pPr algn="ctr">
              <a:lnSpc>
                <a:spcPct val="100000"/>
              </a:lnSpc>
            </a:pPr>
            <a:r>
              <a:rPr sz="1250" b="1">
                <a:solidFill>
                  <a:srgbClr val="48606B"/>
                </a:solidFill>
                <a:latin typeface="Arial"/>
              </a:rPr>
              <a:t>ply 160</a:t>
            </a:r>
          </a:p>
        </p:txBody>
      </p:sp>
      <p:sp>
        <p:nvSpPr>
          <p:cNvPr id="28" name="TextBox 27"/>
          <p:cNvSpPr txBox="1"/>
          <p:nvPr/>
        </p:nvSpPr>
        <p:spPr>
          <a:xfrm>
            <a:off x="914400" y="4965192"/>
            <a:ext cx="10149840" cy="320040"/>
          </a:xfrm>
          <a:prstGeom prst="rect">
            <a:avLst/>
          </a:prstGeom>
          <a:noFill/>
        </p:spPr>
        <p:txBody>
          <a:bodyPr wrap="square" lIns="27432" tIns="27432" rIns="27432" bIns="27432" anchor="t">
            <a:spAutoFit/>
          </a:bodyPr>
          <a:lstStyle/>
          <a:p>
            <a:pPr algn="ctr">
              <a:lnSpc>
                <a:spcPct val="100000"/>
              </a:lnSpc>
            </a:pPr>
            <a:r>
              <a:rPr sz="1400" b="0">
                <a:solidFill>
                  <a:srgbClr val="48606B"/>
                </a:solidFill>
                <a:latin typeface="Arial"/>
              </a:rPr>
              <a:t>Example: ply 24 means 12 complete moves. Shorter games contribute only checkpoints they reach.</a:t>
            </a:r>
          </a:p>
        </p:txBody>
      </p:sp>
      <p:sp>
        <p:nvSpPr>
          <p:cNvPr id="29" name="Rounded Rectangle 28"/>
          <p:cNvSpPr/>
          <p:nvPr/>
        </p:nvSpPr>
        <p:spPr>
          <a:xfrm>
            <a:off x="1353312" y="5605272"/>
            <a:ext cx="9464040" cy="530352"/>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554480" y="5760720"/>
            <a:ext cx="9052560" cy="228600"/>
          </a:xfrm>
          <a:prstGeom prst="rect">
            <a:avLst/>
          </a:prstGeom>
          <a:noFill/>
        </p:spPr>
        <p:txBody>
          <a:bodyPr wrap="square" lIns="27432" tIns="27432" rIns="27432" bIns="27432" anchor="t">
            <a:spAutoFit/>
          </a:bodyPr>
          <a:lstStyle/>
          <a:p>
            <a:pPr algn="ctr">
              <a:lnSpc>
                <a:spcPct val="100000"/>
              </a:lnSpc>
            </a:pPr>
            <a:r>
              <a:rPr sz="1400" b="1">
                <a:solidFill>
                  <a:srgbClr val="007E78"/>
                </a:solidFill>
                <a:latin typeface="Arial"/>
              </a:rPr>
              <a:t>After test games finish: percentages select 10%, 25%, 50%, 75%, 100% reporting positions only.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38328"/>
            <a:ext cx="10698480" cy="502920"/>
          </a:xfrm>
          <a:prstGeom prst="rect">
            <a:avLst/>
          </a:prstGeom>
          <a:noFill/>
        </p:spPr>
        <p:txBody>
          <a:bodyPr wrap="square" lIns="27432" tIns="27432" rIns="27432" bIns="27432" anchor="t">
            <a:spAutoFit/>
          </a:bodyPr>
          <a:lstStyle/>
          <a:p>
            <a:pPr algn="l">
              <a:lnSpc>
                <a:spcPct val="100000"/>
              </a:lnSpc>
            </a:pPr>
            <a:r>
              <a:rPr sz="2800" b="1">
                <a:solidFill>
                  <a:srgbClr val="142C3B"/>
                </a:solidFill>
                <a:latin typeface="Arial"/>
              </a:rPr>
              <a:t>Compact, interpretable feature set</a:t>
            </a:r>
          </a:p>
        </p:txBody>
      </p:sp>
      <p:sp>
        <p:nvSpPr>
          <p:cNvPr id="3" name="Rectangle 2"/>
          <p:cNvSpPr/>
          <p:nvPr/>
        </p:nvSpPr>
        <p:spPr>
          <a:xfrm>
            <a:off x="685800" y="1225296"/>
            <a:ext cx="914400" cy="4572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28232"/>
            <a:ext cx="411480" cy="201168"/>
          </a:xfrm>
          <a:prstGeom prst="rect">
            <a:avLst/>
          </a:prstGeom>
          <a:noFill/>
        </p:spPr>
        <p:txBody>
          <a:bodyPr wrap="square" lIns="27432" tIns="27432" rIns="27432" bIns="27432" anchor="t">
            <a:spAutoFit/>
          </a:bodyPr>
          <a:lstStyle/>
          <a:p>
            <a:pPr algn="r">
              <a:lnSpc>
                <a:spcPct val="100000"/>
              </a:lnSpc>
            </a:pPr>
            <a:r>
              <a:rPr sz="1000" b="0">
                <a:solidFill>
                  <a:srgbClr val="71828A"/>
                </a:solidFill>
                <a:latin typeface="Arial"/>
              </a:rPr>
              <a:t>05</a:t>
            </a:r>
          </a:p>
        </p:txBody>
      </p:sp>
      <p:sp>
        <p:nvSpPr>
          <p:cNvPr id="5" name="Rectangle 4"/>
          <p:cNvSpPr/>
          <p:nvPr/>
        </p:nvSpPr>
        <p:spPr>
          <a:xfrm>
            <a:off x="630936" y="1389888"/>
            <a:ext cx="7059168" cy="3209544"/>
          </a:xfrm>
          <a:prstGeom prst="rect">
            <a:avLst/>
          </a:prstGeom>
          <a:solidFill>
            <a:srgbClr val="FFFFFF"/>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02_prematch_correlations.png"/>
          <p:cNvPicPr>
            <a:picLocks noChangeAspect="1"/>
          </p:cNvPicPr>
          <p:nvPr/>
        </p:nvPicPr>
        <p:blipFill>
          <a:blip r:embed="rId3"/>
          <a:stretch>
            <a:fillRect/>
          </a:stretch>
        </p:blipFill>
        <p:spPr>
          <a:xfrm>
            <a:off x="2144634" y="1417320"/>
            <a:ext cx="4031771" cy="3154680"/>
          </a:xfrm>
          <a:prstGeom prst="rect">
            <a:avLst/>
          </a:prstGeom>
        </p:spPr>
      </p:pic>
      <p:sp>
        <p:nvSpPr>
          <p:cNvPr id="7" name="Rounded Rectangle 6"/>
          <p:cNvSpPr/>
          <p:nvPr/>
        </p:nvSpPr>
        <p:spPr>
          <a:xfrm>
            <a:off x="7918704" y="1463040"/>
            <a:ext cx="3611880" cy="1207008"/>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918704" y="1463040"/>
            <a:ext cx="73152" cy="1207008"/>
          </a:xfrm>
          <a:prstGeom prst="rect">
            <a:avLst/>
          </a:prstGeom>
          <a:solidFill>
            <a:srgbClr val="B55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9872" y="1591056"/>
            <a:ext cx="3300984" cy="310896"/>
          </a:xfrm>
          <a:prstGeom prst="rect">
            <a:avLst/>
          </a:prstGeom>
          <a:noFill/>
        </p:spPr>
        <p:txBody>
          <a:bodyPr wrap="square" lIns="27432" tIns="27432" rIns="27432" bIns="27432" anchor="t">
            <a:spAutoFit/>
          </a:bodyPr>
          <a:lstStyle/>
          <a:p>
            <a:pPr algn="l">
              <a:lnSpc>
                <a:spcPct val="100000"/>
              </a:lnSpc>
            </a:pPr>
            <a:r>
              <a:rPr sz="1500" b="1">
                <a:solidFill>
                  <a:srgbClr val="B5524B"/>
                </a:solidFill>
                <a:latin typeface="Arial"/>
              </a:rPr>
              <a:t>STOCKFISH · 4</a:t>
            </a:r>
          </a:p>
        </p:txBody>
      </p:sp>
      <p:sp>
        <p:nvSpPr>
          <p:cNvPr id="10" name="TextBox 9"/>
          <p:cNvSpPr txBox="1"/>
          <p:nvPr/>
        </p:nvSpPr>
        <p:spPr>
          <a:xfrm>
            <a:off x="8119872" y="1810512"/>
            <a:ext cx="3300984" cy="621792"/>
          </a:xfrm>
          <a:prstGeom prst="rect">
            <a:avLst/>
          </a:prstGeom>
          <a:noFill/>
        </p:spPr>
        <p:txBody>
          <a:bodyPr wrap="square" lIns="27432" tIns="27432" rIns="27432" bIns="27432" anchor="t">
            <a:spAutoFit/>
          </a:bodyPr>
          <a:lstStyle/>
          <a:p>
            <a:pPr algn="l">
              <a:lnSpc>
                <a:spcPct val="100000"/>
              </a:lnSpc>
            </a:pPr>
            <a:r>
              <a:rPr sz="1300" b="0" dirty="0" err="1">
                <a:solidFill>
                  <a:srgbClr val="48606B"/>
                </a:solidFill>
                <a:latin typeface="Arial"/>
              </a:rPr>
              <a:t>score_cp</a:t>
            </a:r>
            <a:r>
              <a:rPr sz="1300" b="0" dirty="0">
                <a:solidFill>
                  <a:srgbClr val="48606B"/>
                </a:solidFill>
                <a:latin typeface="Arial"/>
              </a:rPr>
              <a:t>
</a:t>
            </a:r>
            <a:r>
              <a:rPr sz="1300" b="0" dirty="0" err="1">
                <a:solidFill>
                  <a:srgbClr val="48606B"/>
                </a:solidFill>
                <a:latin typeface="Arial"/>
              </a:rPr>
              <a:t>score_mate</a:t>
            </a:r>
            <a:r>
              <a:rPr sz="1300" b="0" dirty="0">
                <a:solidFill>
                  <a:srgbClr val="48606B"/>
                </a:solidFill>
                <a:latin typeface="Arial"/>
              </a:rPr>
              <a:t>
</a:t>
            </a:r>
            <a:r>
              <a:rPr sz="1300" b="0" dirty="0" err="1">
                <a:solidFill>
                  <a:srgbClr val="48606B"/>
                </a:solidFill>
                <a:latin typeface="Arial"/>
              </a:rPr>
              <a:t>wdl_wins</a:t>
            </a:r>
            <a:r>
              <a:rPr sz="1300" b="0" dirty="0">
                <a:solidFill>
                  <a:srgbClr val="48606B"/>
                </a:solidFill>
                <a:latin typeface="Arial"/>
              </a:rPr>
              <a:t>
</a:t>
            </a:r>
            <a:r>
              <a:rPr sz="1300" b="0" dirty="0" err="1">
                <a:solidFill>
                  <a:srgbClr val="48606B"/>
                </a:solidFill>
                <a:latin typeface="Arial"/>
              </a:rPr>
              <a:t>wdl_draws</a:t>
            </a:r>
            <a:endParaRPr sz="1300" b="0" dirty="0">
              <a:solidFill>
                <a:srgbClr val="48606B"/>
              </a:solidFill>
              <a:latin typeface="Arial"/>
            </a:endParaRPr>
          </a:p>
        </p:txBody>
      </p:sp>
      <p:sp>
        <p:nvSpPr>
          <p:cNvPr id="11" name="Rounded Rectangle 10"/>
          <p:cNvSpPr/>
          <p:nvPr/>
        </p:nvSpPr>
        <p:spPr>
          <a:xfrm>
            <a:off x="7918704" y="2834640"/>
            <a:ext cx="3611880" cy="1115568"/>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918704" y="2834640"/>
            <a:ext cx="73152" cy="111556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19872" y="2962656"/>
            <a:ext cx="3300984" cy="310896"/>
          </a:xfrm>
          <a:prstGeom prst="rect">
            <a:avLst/>
          </a:prstGeom>
          <a:noFill/>
        </p:spPr>
        <p:txBody>
          <a:bodyPr wrap="square" lIns="27432" tIns="27432" rIns="27432" bIns="27432" anchor="t">
            <a:spAutoFit/>
          </a:bodyPr>
          <a:lstStyle/>
          <a:p>
            <a:pPr algn="l">
              <a:lnSpc>
                <a:spcPct val="100000"/>
              </a:lnSpc>
            </a:pPr>
            <a:r>
              <a:rPr sz="1500" b="1">
                <a:solidFill>
                  <a:srgbClr val="D89A3D"/>
                </a:solidFill>
                <a:latin typeface="Arial"/>
              </a:rPr>
              <a:t>MANUAL · 3</a:t>
            </a:r>
          </a:p>
        </p:txBody>
      </p:sp>
      <p:sp>
        <p:nvSpPr>
          <p:cNvPr id="14" name="TextBox 13"/>
          <p:cNvSpPr txBox="1"/>
          <p:nvPr/>
        </p:nvSpPr>
        <p:spPr>
          <a:xfrm>
            <a:off x="8119872" y="3186684"/>
            <a:ext cx="3300984" cy="530352"/>
          </a:xfrm>
          <a:prstGeom prst="rect">
            <a:avLst/>
          </a:prstGeom>
          <a:noFill/>
        </p:spPr>
        <p:txBody>
          <a:bodyPr wrap="square" lIns="27432" tIns="27432" rIns="27432" bIns="27432" anchor="t">
            <a:spAutoFit/>
          </a:bodyPr>
          <a:lstStyle/>
          <a:p>
            <a:pPr algn="l">
              <a:lnSpc>
                <a:spcPct val="100000"/>
              </a:lnSpc>
            </a:pPr>
            <a:r>
              <a:rPr sz="1300" b="0" dirty="0">
                <a:solidFill>
                  <a:srgbClr val="48606B"/>
                </a:solidFill>
                <a:latin typeface="Arial"/>
              </a:rPr>
              <a:t>ply
</a:t>
            </a:r>
            <a:r>
              <a:rPr sz="1300" b="0" dirty="0" err="1">
                <a:solidFill>
                  <a:srgbClr val="48606B"/>
                </a:solidFill>
                <a:latin typeface="Arial"/>
              </a:rPr>
              <a:t>material_total</a:t>
            </a:r>
            <a:r>
              <a:rPr sz="1300" b="0" dirty="0">
                <a:solidFill>
                  <a:srgbClr val="48606B"/>
                </a:solidFill>
                <a:latin typeface="Arial"/>
              </a:rPr>
              <a:t>
</a:t>
            </a:r>
            <a:r>
              <a:rPr sz="1300" b="0" dirty="0" err="1">
                <a:solidFill>
                  <a:srgbClr val="48606B"/>
                </a:solidFill>
                <a:latin typeface="Arial"/>
              </a:rPr>
              <a:t>material_diff</a:t>
            </a:r>
            <a:endParaRPr sz="1300" b="0" dirty="0">
              <a:solidFill>
                <a:srgbClr val="48606B"/>
              </a:solidFill>
              <a:latin typeface="Arial"/>
            </a:endParaRPr>
          </a:p>
        </p:txBody>
      </p:sp>
      <p:sp>
        <p:nvSpPr>
          <p:cNvPr id="15" name="Rounded Rectangle 14"/>
          <p:cNvSpPr/>
          <p:nvPr/>
        </p:nvSpPr>
        <p:spPr>
          <a:xfrm>
            <a:off x="7918704" y="4114800"/>
            <a:ext cx="3611880" cy="1133856"/>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918704" y="4114800"/>
            <a:ext cx="73152" cy="1133856"/>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19872" y="4242816"/>
            <a:ext cx="3300984" cy="310896"/>
          </a:xfrm>
          <a:prstGeom prst="rect">
            <a:avLst/>
          </a:prstGeom>
          <a:noFill/>
        </p:spPr>
        <p:txBody>
          <a:bodyPr wrap="square" lIns="27432" tIns="27432" rIns="27432" bIns="27432" anchor="t">
            <a:spAutoFit/>
          </a:bodyPr>
          <a:lstStyle/>
          <a:p>
            <a:pPr algn="l">
              <a:lnSpc>
                <a:spcPct val="100000"/>
              </a:lnSpc>
            </a:pPr>
            <a:r>
              <a:rPr sz="1500" b="1">
                <a:solidFill>
                  <a:srgbClr val="007E78"/>
                </a:solidFill>
                <a:latin typeface="Arial"/>
              </a:rPr>
              <a:t>PRE-MATCH · 10</a:t>
            </a:r>
          </a:p>
        </p:txBody>
      </p:sp>
      <p:sp>
        <p:nvSpPr>
          <p:cNvPr id="18" name="TextBox 17"/>
          <p:cNvSpPr txBox="1"/>
          <p:nvPr/>
        </p:nvSpPr>
        <p:spPr>
          <a:xfrm>
            <a:off x="8119872" y="4617720"/>
            <a:ext cx="3300984" cy="548640"/>
          </a:xfrm>
          <a:prstGeom prst="rect">
            <a:avLst/>
          </a:prstGeom>
          <a:noFill/>
        </p:spPr>
        <p:txBody>
          <a:bodyPr wrap="square" lIns="27432" tIns="27432" rIns="27432" bIns="27432" anchor="t">
            <a:spAutoFit/>
          </a:bodyPr>
          <a:lstStyle/>
          <a:p>
            <a:pPr algn="l">
              <a:lnSpc>
                <a:spcPct val="100000"/>
              </a:lnSpc>
            </a:pPr>
            <a:r>
              <a:rPr sz="1300" b="0" dirty="0">
                <a:solidFill>
                  <a:srgbClr val="48606B"/>
                </a:solidFill>
                <a:latin typeface="Arial"/>
              </a:rPr>
              <a:t>ratings and engineered differences
rated status · base time · increment</a:t>
            </a:r>
          </a:p>
        </p:txBody>
      </p:sp>
      <p:sp>
        <p:nvSpPr>
          <p:cNvPr id="19" name="Rounded Rectangle 18"/>
          <p:cNvSpPr/>
          <p:nvPr/>
        </p:nvSpPr>
        <p:spPr>
          <a:xfrm>
            <a:off x="768096" y="4983480"/>
            <a:ext cx="6720840" cy="713232"/>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1832" y="5148072"/>
            <a:ext cx="6382512" cy="265176"/>
          </a:xfrm>
          <a:prstGeom prst="rect">
            <a:avLst/>
          </a:prstGeom>
          <a:noFill/>
        </p:spPr>
        <p:txBody>
          <a:bodyPr wrap="square" lIns="27432" tIns="27432" rIns="27432" bIns="27432" anchor="t">
            <a:spAutoFit/>
          </a:bodyPr>
          <a:lstStyle/>
          <a:p>
            <a:pPr algn="ctr">
              <a:lnSpc>
                <a:spcPct val="100000"/>
              </a:lnSpc>
            </a:pPr>
            <a:r>
              <a:rPr sz="1450" b="1" dirty="0">
                <a:solidFill>
                  <a:srgbClr val="48606B"/>
                </a:solidFill>
                <a:latin typeface="Arial"/>
              </a:rPr>
              <a:t>All engine scores and material differences are oriented from White's perspective.</a:t>
            </a:r>
          </a:p>
        </p:txBody>
      </p:sp>
      <p:sp>
        <p:nvSpPr>
          <p:cNvPr id="21" name="TextBox 20"/>
          <p:cNvSpPr txBox="1"/>
          <p:nvPr/>
        </p:nvSpPr>
        <p:spPr>
          <a:xfrm>
            <a:off x="868680" y="5916168"/>
            <a:ext cx="10607040" cy="256032"/>
          </a:xfrm>
          <a:prstGeom prst="rect">
            <a:avLst/>
          </a:prstGeom>
          <a:noFill/>
        </p:spPr>
        <p:txBody>
          <a:bodyPr wrap="square" lIns="27432" tIns="27432" rIns="27432" bIns="27432" anchor="t">
            <a:spAutoFit/>
          </a:bodyPr>
          <a:lstStyle/>
          <a:p>
            <a:pPr algn="ctr">
              <a:lnSpc>
                <a:spcPct val="100000"/>
              </a:lnSpc>
            </a:pPr>
            <a:r>
              <a:rPr sz="1300" b="0">
                <a:solidFill>
                  <a:srgbClr val="71828A"/>
                </a:solidFill>
                <a:latin typeface="Arial"/>
              </a:rPr>
              <a:t>Excluded: player IDs, opening labels, final length, termination status, and the target.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38328"/>
            <a:ext cx="10698480" cy="502920"/>
          </a:xfrm>
          <a:prstGeom prst="rect">
            <a:avLst/>
          </a:prstGeom>
          <a:noFill/>
        </p:spPr>
        <p:txBody>
          <a:bodyPr wrap="square" lIns="27432" tIns="27432" rIns="27432" bIns="27432" anchor="t">
            <a:spAutoFit/>
          </a:bodyPr>
          <a:lstStyle/>
          <a:p>
            <a:pPr algn="l">
              <a:lnSpc>
                <a:spcPct val="100000"/>
              </a:lnSpc>
            </a:pPr>
            <a:r>
              <a:rPr sz="2800" b="1">
                <a:solidFill>
                  <a:srgbClr val="142C3B"/>
                </a:solidFill>
                <a:latin typeface="Arial"/>
              </a:rPr>
              <a:t>Two HGB instances, one progressive system</a:t>
            </a:r>
          </a:p>
        </p:txBody>
      </p:sp>
      <p:sp>
        <p:nvSpPr>
          <p:cNvPr id="3" name="TextBox 2"/>
          <p:cNvSpPr txBox="1"/>
          <p:nvPr/>
        </p:nvSpPr>
        <p:spPr>
          <a:xfrm>
            <a:off x="685800" y="896112"/>
            <a:ext cx="10652760" cy="283464"/>
          </a:xfrm>
          <a:prstGeom prst="rect">
            <a:avLst/>
          </a:prstGeom>
          <a:noFill/>
        </p:spPr>
        <p:txBody>
          <a:bodyPr wrap="square" lIns="27432" tIns="27432" rIns="27432" bIns="27432" anchor="t">
            <a:spAutoFit/>
          </a:bodyPr>
          <a:lstStyle/>
          <a:p>
            <a:pPr algn="l">
              <a:lnSpc>
                <a:spcPct val="100000"/>
              </a:lnSpc>
            </a:pPr>
            <a:r>
              <a:rPr sz="1250" b="0">
                <a:solidFill>
                  <a:srgbClr val="71828A"/>
                </a:solidFill>
                <a:latin typeface="Arial"/>
              </a:rPr>
              <a:t>Histogram Gradient Boosting is the final learned model family</a:t>
            </a:r>
          </a:p>
        </p:txBody>
      </p:sp>
      <p:sp>
        <p:nvSpPr>
          <p:cNvPr id="4" name="Rectangle 3"/>
          <p:cNvSpPr/>
          <p:nvPr/>
        </p:nvSpPr>
        <p:spPr>
          <a:xfrm>
            <a:off x="685800" y="1225296"/>
            <a:ext cx="914400" cy="4572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28232"/>
            <a:ext cx="411480" cy="201168"/>
          </a:xfrm>
          <a:prstGeom prst="rect">
            <a:avLst/>
          </a:prstGeom>
          <a:noFill/>
        </p:spPr>
        <p:txBody>
          <a:bodyPr wrap="square" lIns="27432" tIns="27432" rIns="27432" bIns="27432" anchor="t">
            <a:spAutoFit/>
          </a:bodyPr>
          <a:lstStyle/>
          <a:p>
            <a:pPr algn="r">
              <a:lnSpc>
                <a:spcPct val="100000"/>
              </a:lnSpc>
            </a:pPr>
            <a:r>
              <a:rPr sz="1000" b="0">
                <a:solidFill>
                  <a:srgbClr val="71828A"/>
                </a:solidFill>
                <a:latin typeface="Arial"/>
              </a:rPr>
              <a:t>06</a:t>
            </a:r>
          </a:p>
        </p:txBody>
      </p:sp>
      <p:sp>
        <p:nvSpPr>
          <p:cNvPr id="6" name="Rounded Rectangle 5"/>
          <p:cNvSpPr/>
          <p:nvPr/>
        </p:nvSpPr>
        <p:spPr>
          <a:xfrm>
            <a:off x="758952" y="1527048"/>
            <a:ext cx="3063240" cy="1481328"/>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58952" y="1527048"/>
            <a:ext cx="73152" cy="1481328"/>
          </a:xfrm>
          <a:prstGeom prst="rect">
            <a:avLst/>
          </a:prstGeom>
          <a:solidFill>
            <a:srgbClr val="486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655064"/>
            <a:ext cx="2752344" cy="310896"/>
          </a:xfrm>
          <a:prstGeom prst="rect">
            <a:avLst/>
          </a:prstGeom>
          <a:noFill/>
        </p:spPr>
        <p:txBody>
          <a:bodyPr wrap="square" lIns="27432" tIns="27432" rIns="27432" bIns="27432" anchor="t">
            <a:spAutoFit/>
          </a:bodyPr>
          <a:lstStyle/>
          <a:p>
            <a:pPr algn="l">
              <a:lnSpc>
                <a:spcPct val="100000"/>
              </a:lnSpc>
            </a:pPr>
            <a:r>
              <a:rPr sz="1500" b="1">
                <a:solidFill>
                  <a:srgbClr val="48606B"/>
                </a:solidFill>
                <a:latin typeface="Arial"/>
              </a:rPr>
              <a:t>PRE-MATCH HGB</a:t>
            </a:r>
          </a:p>
        </p:txBody>
      </p:sp>
      <p:sp>
        <p:nvSpPr>
          <p:cNvPr id="9" name="TextBox 8"/>
          <p:cNvSpPr txBox="1"/>
          <p:nvPr/>
        </p:nvSpPr>
        <p:spPr>
          <a:xfrm>
            <a:off x="960120" y="2029967"/>
            <a:ext cx="2752344" cy="896112"/>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Used only before the first move
10 context features
Supplies the 0% estimate</a:t>
            </a:r>
          </a:p>
        </p:txBody>
      </p:sp>
      <p:sp>
        <p:nvSpPr>
          <p:cNvPr id="10" name="Chevron 9"/>
          <p:cNvSpPr/>
          <p:nvPr/>
        </p:nvSpPr>
        <p:spPr>
          <a:xfrm>
            <a:off x="3968496" y="2121408"/>
            <a:ext cx="475488" cy="310896"/>
          </a:xfrm>
          <a:prstGeom prst="chevron">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99432" y="1527048"/>
            <a:ext cx="3063240" cy="1481328"/>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99432" y="1527048"/>
            <a:ext cx="73152" cy="1481328"/>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00600" y="1655064"/>
            <a:ext cx="2752344" cy="310896"/>
          </a:xfrm>
          <a:prstGeom prst="rect">
            <a:avLst/>
          </a:prstGeom>
          <a:noFill/>
        </p:spPr>
        <p:txBody>
          <a:bodyPr wrap="square" lIns="27432" tIns="27432" rIns="27432" bIns="27432" anchor="t">
            <a:spAutoFit/>
          </a:bodyPr>
          <a:lstStyle/>
          <a:p>
            <a:pPr algn="l">
              <a:lnSpc>
                <a:spcPct val="100000"/>
              </a:lnSpc>
            </a:pPr>
            <a:r>
              <a:rPr sz="1500" b="1">
                <a:solidFill>
                  <a:srgbClr val="007E78"/>
                </a:solidFill>
                <a:latin typeface="Arial"/>
              </a:rPr>
              <a:t>HUMAN-CONTEXT HGB</a:t>
            </a:r>
          </a:p>
        </p:txBody>
      </p:sp>
      <p:sp>
        <p:nvSpPr>
          <p:cNvPr id="14" name="TextBox 13"/>
          <p:cNvSpPr txBox="1"/>
          <p:nvPr/>
        </p:nvSpPr>
        <p:spPr>
          <a:xfrm>
            <a:off x="4800600" y="2029967"/>
            <a:ext cx="2752344" cy="896112"/>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Used after moves appear
17 total inputs
Prespecified main model</a:t>
            </a:r>
          </a:p>
        </p:txBody>
      </p:sp>
      <p:sp>
        <p:nvSpPr>
          <p:cNvPr id="15" name="Chevron 14"/>
          <p:cNvSpPr/>
          <p:nvPr/>
        </p:nvSpPr>
        <p:spPr>
          <a:xfrm>
            <a:off x="7808975" y="2121408"/>
            <a:ext cx="475488" cy="310896"/>
          </a:xfrm>
          <a:prstGeom prst="chevron">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439912" y="1527048"/>
            <a:ext cx="3063240" cy="1481328"/>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439912" y="1527048"/>
            <a:ext cx="73152" cy="1481328"/>
          </a:xfrm>
          <a:prstGeom prst="rect">
            <a:avLst/>
          </a:prstGeom>
          <a:solidFill>
            <a:srgbClr val="14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41080" y="1655064"/>
            <a:ext cx="2752344" cy="310896"/>
          </a:xfrm>
          <a:prstGeom prst="rect">
            <a:avLst/>
          </a:prstGeom>
          <a:noFill/>
        </p:spPr>
        <p:txBody>
          <a:bodyPr wrap="square" lIns="27432" tIns="27432" rIns="27432" bIns="27432" anchor="t">
            <a:spAutoFit/>
          </a:bodyPr>
          <a:lstStyle/>
          <a:p>
            <a:pPr algn="l">
              <a:lnSpc>
                <a:spcPct val="100000"/>
              </a:lnSpc>
            </a:pPr>
            <a:r>
              <a:rPr sz="1500" b="1">
                <a:solidFill>
                  <a:srgbClr val="142C3B"/>
                </a:solidFill>
                <a:latin typeface="Arial"/>
              </a:rPr>
              <a:t>UPDATED PROBABILITY</a:t>
            </a:r>
          </a:p>
        </p:txBody>
      </p:sp>
      <p:sp>
        <p:nvSpPr>
          <p:cNvPr id="19" name="TextBox 18"/>
          <p:cNvSpPr txBox="1"/>
          <p:nvPr/>
        </p:nvSpPr>
        <p:spPr>
          <a:xfrm>
            <a:off x="8641080" y="2029967"/>
            <a:ext cx="2752344" cy="896112"/>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Black win · Draw · White win
Recomputed at the current board</a:t>
            </a:r>
          </a:p>
        </p:txBody>
      </p:sp>
      <p:sp>
        <p:nvSpPr>
          <p:cNvPr id="20" name="TextBox 19"/>
          <p:cNvSpPr txBox="1"/>
          <p:nvPr/>
        </p:nvSpPr>
        <p:spPr>
          <a:xfrm>
            <a:off x="786384" y="3584448"/>
            <a:ext cx="2103120" cy="274320"/>
          </a:xfrm>
          <a:prstGeom prst="rect">
            <a:avLst/>
          </a:prstGeom>
          <a:noFill/>
        </p:spPr>
        <p:txBody>
          <a:bodyPr wrap="square" lIns="27432" tIns="27432" rIns="27432" bIns="27432" anchor="t">
            <a:spAutoFit/>
          </a:bodyPr>
          <a:lstStyle/>
          <a:p>
            <a:pPr algn="l">
              <a:lnSpc>
                <a:spcPct val="100000"/>
              </a:lnSpc>
            </a:pPr>
            <a:r>
              <a:rPr sz="1800" b="1">
                <a:solidFill>
                  <a:srgbClr val="142C3B"/>
                </a:solidFill>
                <a:latin typeface="Arial"/>
              </a:rPr>
              <a:t>Why HGB?</a:t>
            </a:r>
          </a:p>
        </p:txBody>
      </p:sp>
      <p:sp>
        <p:nvSpPr>
          <p:cNvPr id="21" name="TextBox 20"/>
          <p:cNvSpPr txBox="1"/>
          <p:nvPr/>
        </p:nvSpPr>
        <p:spPr>
          <a:xfrm>
            <a:off x="786384" y="3986784"/>
            <a:ext cx="5303520" cy="1325880"/>
          </a:xfrm>
          <a:prstGeom prst="rect">
            <a:avLst/>
          </a:prstGeom>
          <a:noFill/>
        </p:spPr>
        <p:txBody>
          <a:bodyPr wrap="square" lIns="36576" tIns="27432" rIns="36576" bIns="27432" anchor="t">
            <a:spAutoFit/>
          </a:bodyPr>
          <a:lstStyle/>
          <a:p>
            <a:pPr>
              <a:lnSpc>
                <a:spcPct val="100000"/>
              </a:lnSpc>
              <a:spcAft>
                <a:spcPts val="700"/>
              </a:spcAft>
            </a:pPr>
            <a:r>
              <a:rPr sz="1500" b="0">
                <a:solidFill>
                  <a:srgbClr val="48606B"/>
                </a:solidFill>
                <a:latin typeface="Arial"/>
              </a:rPr>
              <a:t>• Learns nonlinear thresholds and feature interactions</a:t>
            </a:r>
          </a:p>
          <a:p>
            <a:pPr>
              <a:lnSpc>
                <a:spcPct val="100000"/>
              </a:lnSpc>
              <a:spcAft>
                <a:spcPts val="700"/>
              </a:spcAft>
            </a:pPr>
            <a:r>
              <a:rPr sz="1500" b="0">
                <a:solidFill>
                  <a:srgbClr val="48606B"/>
                </a:solidFill>
                <a:latin typeface="Arial"/>
              </a:rPr>
              <a:t>• Handles missing cp / mate values without imputation</a:t>
            </a:r>
          </a:p>
          <a:p>
            <a:pPr>
              <a:lnSpc>
                <a:spcPct val="100000"/>
              </a:lnSpc>
              <a:spcAft>
                <a:spcPts val="700"/>
              </a:spcAft>
            </a:pPr>
            <a:r>
              <a:rPr sz="1500" b="0">
                <a:solidFill>
                  <a:srgbClr val="48606B"/>
                </a:solidFill>
                <a:latin typeface="Arial"/>
              </a:rPr>
              <a:t>• Efficient and reproducible for tabular snapshots</a:t>
            </a:r>
          </a:p>
        </p:txBody>
      </p:sp>
      <p:sp>
        <p:nvSpPr>
          <p:cNvPr id="22" name="TextBox 21"/>
          <p:cNvSpPr txBox="1"/>
          <p:nvPr/>
        </p:nvSpPr>
        <p:spPr>
          <a:xfrm>
            <a:off x="6254496" y="3584448"/>
            <a:ext cx="3474720" cy="274320"/>
          </a:xfrm>
          <a:prstGeom prst="rect">
            <a:avLst/>
          </a:prstGeom>
          <a:noFill/>
        </p:spPr>
        <p:txBody>
          <a:bodyPr wrap="square" lIns="27432" tIns="27432" rIns="27432" bIns="27432" anchor="t">
            <a:spAutoFit/>
          </a:bodyPr>
          <a:lstStyle/>
          <a:p>
            <a:pPr algn="l">
              <a:lnSpc>
                <a:spcPct val="100000"/>
              </a:lnSpc>
            </a:pPr>
            <a:r>
              <a:rPr sz="1800" b="1">
                <a:solidFill>
                  <a:srgbClr val="142C3B"/>
                </a:solidFill>
                <a:latin typeface="Arial"/>
              </a:rPr>
              <a:t>Controlled in-game settings</a:t>
            </a:r>
          </a:p>
        </p:txBody>
      </p:sp>
      <p:sp>
        <p:nvSpPr>
          <p:cNvPr id="23" name="TextBox 22"/>
          <p:cNvSpPr txBox="1"/>
          <p:nvPr/>
        </p:nvSpPr>
        <p:spPr>
          <a:xfrm>
            <a:off x="6254496" y="3986784"/>
            <a:ext cx="5166360" cy="1325880"/>
          </a:xfrm>
          <a:prstGeom prst="rect">
            <a:avLst/>
          </a:prstGeom>
          <a:noFill/>
        </p:spPr>
        <p:txBody>
          <a:bodyPr wrap="square" lIns="36576" tIns="27432" rIns="36576" bIns="27432" anchor="t">
            <a:spAutoFit/>
          </a:bodyPr>
          <a:lstStyle/>
          <a:p>
            <a:pPr>
              <a:lnSpc>
                <a:spcPct val="100000"/>
              </a:lnSpc>
              <a:spcAft>
                <a:spcPts val="700"/>
              </a:spcAft>
            </a:pPr>
            <a:r>
              <a:rPr sz="1500" b="0">
                <a:solidFill>
                  <a:srgbClr val="48606B"/>
                </a:solidFill>
                <a:latin typeface="Arial"/>
              </a:rPr>
              <a:t>• Learning rate 0.08 · up to 240 iterations · 31 leaves</a:t>
            </a:r>
          </a:p>
          <a:p>
            <a:pPr>
              <a:lnSpc>
                <a:spcPct val="100000"/>
              </a:lnSpc>
              <a:spcAft>
                <a:spcPts val="700"/>
              </a:spcAft>
            </a:pPr>
            <a:r>
              <a:rPr sz="1500" b="0">
                <a:solidFill>
                  <a:srgbClr val="48606B"/>
                </a:solidFill>
                <a:latin typeface="Arial"/>
              </a:rPr>
              <a:t>• Class- and game-balanced training weights</a:t>
            </a:r>
          </a:p>
          <a:p>
            <a:pPr>
              <a:lnSpc>
                <a:spcPct val="100000"/>
              </a:lnSpc>
              <a:spcAft>
                <a:spcPts val="700"/>
              </a:spcAft>
            </a:pPr>
            <a:r>
              <a:rPr sz="1500" b="0">
                <a:solidFill>
                  <a:srgbClr val="48606B"/>
                </a:solidFill>
                <a:latin typeface="Arial"/>
              </a:rPr>
              <a:t>• Position-only HGB uses the same settings</a:t>
            </a:r>
          </a:p>
        </p:txBody>
      </p:sp>
      <p:sp>
        <p:nvSpPr>
          <p:cNvPr id="24" name="Rounded Rectangle 23"/>
          <p:cNvSpPr/>
          <p:nvPr/>
        </p:nvSpPr>
        <p:spPr>
          <a:xfrm>
            <a:off x="1143000" y="5623560"/>
            <a:ext cx="9921240" cy="502920"/>
          </a:xfrm>
          <a:prstGeom prst="roundRect">
            <a:avLst/>
          </a:prstGeom>
          <a:solidFill>
            <a:srgbClr val="E6F1EF"/>
          </a:solidFill>
          <a:ln w="12700">
            <a:solidFill>
              <a:srgbClr val="E6F1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353312" y="5760720"/>
            <a:ext cx="9509760" cy="210312"/>
          </a:xfrm>
          <a:prstGeom prst="rect">
            <a:avLst/>
          </a:prstGeom>
          <a:noFill/>
        </p:spPr>
        <p:txBody>
          <a:bodyPr wrap="square" lIns="27432" tIns="27432" rIns="27432" bIns="27432" anchor="t">
            <a:spAutoFit/>
          </a:bodyPr>
          <a:lstStyle/>
          <a:p>
            <a:pPr algn="ctr">
              <a:lnSpc>
                <a:spcPct val="100000"/>
              </a:lnSpc>
            </a:pPr>
            <a:r>
              <a:rPr sz="1400" b="1">
                <a:solidFill>
                  <a:srgbClr val="007E78"/>
                </a:solidFill>
                <a:latin typeface="Arial"/>
              </a:rPr>
              <a:t>Primary in-game score = pooled predictions from all available 10–100% test snapshots.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38328"/>
            <a:ext cx="10698480" cy="502920"/>
          </a:xfrm>
          <a:prstGeom prst="rect">
            <a:avLst/>
          </a:prstGeom>
          <a:noFill/>
        </p:spPr>
        <p:txBody>
          <a:bodyPr wrap="square" lIns="27432" tIns="27432" rIns="27432" bIns="27432" anchor="t">
            <a:spAutoFit/>
          </a:bodyPr>
          <a:lstStyle/>
          <a:p>
            <a:pPr algn="l">
              <a:lnSpc>
                <a:spcPct val="100000"/>
              </a:lnSpc>
            </a:pPr>
            <a:r>
              <a:rPr sz="2800" b="1">
                <a:solidFill>
                  <a:srgbClr val="142C3B"/>
                </a:solidFill>
                <a:latin typeface="Arial"/>
              </a:rPr>
              <a:t>Initial prediction: validation selects Pre-match HGB</a:t>
            </a:r>
          </a:p>
        </p:txBody>
      </p:sp>
      <p:sp>
        <p:nvSpPr>
          <p:cNvPr id="3" name="TextBox 2"/>
          <p:cNvSpPr txBox="1"/>
          <p:nvPr/>
        </p:nvSpPr>
        <p:spPr>
          <a:xfrm>
            <a:off x="685800" y="896112"/>
            <a:ext cx="10652760" cy="283464"/>
          </a:xfrm>
          <a:prstGeom prst="rect">
            <a:avLst/>
          </a:prstGeom>
          <a:noFill/>
        </p:spPr>
        <p:txBody>
          <a:bodyPr wrap="square" lIns="27432" tIns="27432" rIns="27432" bIns="27432" anchor="t">
            <a:spAutoFit/>
          </a:bodyPr>
          <a:lstStyle/>
          <a:p>
            <a:pPr algn="l">
              <a:lnSpc>
                <a:spcPct val="100000"/>
              </a:lnSpc>
            </a:pPr>
            <a:r>
              <a:rPr sz="1250" b="0">
                <a:solidFill>
                  <a:srgbClr val="71828A"/>
                </a:solidFill>
                <a:latin typeface="Arial"/>
              </a:rPr>
              <a:t>Candidate selection and held-out estimation are reported separately</a:t>
            </a:r>
          </a:p>
        </p:txBody>
      </p:sp>
      <p:sp>
        <p:nvSpPr>
          <p:cNvPr id="4" name="Rectangle 3"/>
          <p:cNvSpPr/>
          <p:nvPr/>
        </p:nvSpPr>
        <p:spPr>
          <a:xfrm>
            <a:off x="685800" y="1225296"/>
            <a:ext cx="914400" cy="4572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28232"/>
            <a:ext cx="411480" cy="201168"/>
          </a:xfrm>
          <a:prstGeom prst="rect">
            <a:avLst/>
          </a:prstGeom>
          <a:noFill/>
        </p:spPr>
        <p:txBody>
          <a:bodyPr wrap="square" lIns="27432" tIns="27432" rIns="27432" bIns="27432" anchor="t">
            <a:spAutoFit/>
          </a:bodyPr>
          <a:lstStyle/>
          <a:p>
            <a:pPr algn="r">
              <a:lnSpc>
                <a:spcPct val="100000"/>
              </a:lnSpc>
            </a:pPr>
            <a:r>
              <a:rPr sz="1000" b="0">
                <a:solidFill>
                  <a:srgbClr val="71828A"/>
                </a:solidFill>
                <a:latin typeface="Arial"/>
              </a:rPr>
              <a:t>07</a:t>
            </a:r>
          </a:p>
        </p:txBody>
      </p:sp>
      <p:sp>
        <p:nvSpPr>
          <p:cNvPr id="6" name="Rectangle 5"/>
          <p:cNvSpPr/>
          <p:nvPr/>
        </p:nvSpPr>
        <p:spPr>
          <a:xfrm>
            <a:off x="594360" y="1417320"/>
            <a:ext cx="7827264" cy="4581144"/>
          </a:xfrm>
          <a:prstGeom prst="rect">
            <a:avLst/>
          </a:prstGeom>
          <a:solidFill>
            <a:srgbClr val="FFFFFF"/>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03_prematch_importance_confusion.png"/>
          <p:cNvPicPr>
            <a:picLocks noChangeAspect="1"/>
          </p:cNvPicPr>
          <p:nvPr/>
        </p:nvPicPr>
        <p:blipFill>
          <a:blip r:embed="rId3"/>
          <a:stretch>
            <a:fillRect/>
          </a:stretch>
        </p:blipFill>
        <p:spPr>
          <a:xfrm>
            <a:off x="621792" y="2277691"/>
            <a:ext cx="7772400" cy="2860401"/>
          </a:xfrm>
          <a:prstGeom prst="rect">
            <a:avLst/>
          </a:prstGeom>
        </p:spPr>
      </p:pic>
      <p:sp>
        <p:nvSpPr>
          <p:cNvPr id="8" name="Rounded Rectangle 7"/>
          <p:cNvSpPr/>
          <p:nvPr/>
        </p:nvSpPr>
        <p:spPr>
          <a:xfrm>
            <a:off x="8613648" y="1536192"/>
            <a:ext cx="2788920" cy="1417320"/>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613648" y="1536192"/>
            <a:ext cx="73152" cy="1417320"/>
          </a:xfrm>
          <a:prstGeom prst="rect">
            <a:avLst/>
          </a:prstGeom>
          <a:solidFill>
            <a:srgbClr val="486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14816" y="1682495"/>
            <a:ext cx="2478024" cy="402336"/>
          </a:xfrm>
          <a:prstGeom prst="rect">
            <a:avLst/>
          </a:prstGeom>
          <a:noFill/>
        </p:spPr>
        <p:txBody>
          <a:bodyPr wrap="square" lIns="27432" tIns="27432" rIns="27432" bIns="27432" anchor="t">
            <a:spAutoFit/>
          </a:bodyPr>
          <a:lstStyle/>
          <a:p>
            <a:pPr algn="l">
              <a:lnSpc>
                <a:spcPct val="100000"/>
              </a:lnSpc>
            </a:pPr>
            <a:r>
              <a:rPr sz="2400" b="1">
                <a:solidFill>
                  <a:srgbClr val="48606B"/>
                </a:solidFill>
                <a:latin typeface="Arial"/>
              </a:rPr>
              <a:t>0.400</a:t>
            </a:r>
          </a:p>
        </p:txBody>
      </p:sp>
      <p:sp>
        <p:nvSpPr>
          <p:cNvPr id="11" name="TextBox 10"/>
          <p:cNvSpPr txBox="1"/>
          <p:nvPr/>
        </p:nvSpPr>
        <p:spPr>
          <a:xfrm>
            <a:off x="8814816" y="2093976"/>
            <a:ext cx="2478024" cy="274320"/>
          </a:xfrm>
          <a:prstGeom prst="rect">
            <a:avLst/>
          </a:prstGeom>
          <a:noFill/>
        </p:spPr>
        <p:txBody>
          <a:bodyPr wrap="square" lIns="27432" tIns="27432" rIns="27432" bIns="27432" anchor="t">
            <a:spAutoFit/>
          </a:bodyPr>
          <a:lstStyle/>
          <a:p>
            <a:pPr algn="l">
              <a:lnSpc>
                <a:spcPct val="100000"/>
              </a:lnSpc>
            </a:pPr>
            <a:r>
              <a:rPr sz="1250" b="1">
                <a:solidFill>
                  <a:srgbClr val="71828A"/>
                </a:solidFill>
                <a:latin typeface="Arial"/>
              </a:rPr>
              <a:t>VALIDATION SELECTION</a:t>
            </a:r>
          </a:p>
        </p:txBody>
      </p:sp>
      <p:sp>
        <p:nvSpPr>
          <p:cNvPr id="12" name="TextBox 11"/>
          <p:cNvSpPr txBox="1"/>
          <p:nvPr/>
        </p:nvSpPr>
        <p:spPr>
          <a:xfrm>
            <a:off x="8814816" y="2308861"/>
            <a:ext cx="2478024" cy="484632"/>
          </a:xfrm>
          <a:prstGeom prst="rect">
            <a:avLst/>
          </a:prstGeom>
          <a:noFill/>
        </p:spPr>
        <p:txBody>
          <a:bodyPr wrap="square" lIns="27432" tIns="27432" rIns="27432" bIns="27432" anchor="t">
            <a:spAutoFit/>
          </a:bodyPr>
          <a:lstStyle/>
          <a:p>
            <a:pPr algn="l">
              <a:lnSpc>
                <a:spcPct val="100000"/>
              </a:lnSpc>
            </a:pPr>
            <a:r>
              <a:rPr sz="1150" b="0">
                <a:solidFill>
                  <a:srgbClr val="48606B"/>
                </a:solidFill>
                <a:latin typeface="Arial"/>
              </a:rPr>
              <a:t>Highest candidate macro-F1
Dummy: 0.222
Logistic: 0.393</a:t>
            </a:r>
          </a:p>
        </p:txBody>
      </p:sp>
      <p:sp>
        <p:nvSpPr>
          <p:cNvPr id="13" name="Rounded Rectangle 12"/>
          <p:cNvSpPr/>
          <p:nvPr/>
        </p:nvSpPr>
        <p:spPr>
          <a:xfrm>
            <a:off x="8613648" y="3218688"/>
            <a:ext cx="2788920" cy="1207008"/>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613648" y="3218688"/>
            <a:ext cx="73152" cy="1207008"/>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14816" y="3364992"/>
            <a:ext cx="2478024" cy="402336"/>
          </a:xfrm>
          <a:prstGeom prst="rect">
            <a:avLst/>
          </a:prstGeom>
          <a:noFill/>
        </p:spPr>
        <p:txBody>
          <a:bodyPr wrap="square" lIns="27432" tIns="27432" rIns="27432" bIns="27432" anchor="t">
            <a:spAutoFit/>
          </a:bodyPr>
          <a:lstStyle/>
          <a:p>
            <a:pPr algn="l">
              <a:lnSpc>
                <a:spcPct val="100000"/>
              </a:lnSpc>
            </a:pPr>
            <a:r>
              <a:rPr sz="2400" b="1">
                <a:solidFill>
                  <a:srgbClr val="007E78"/>
                </a:solidFill>
                <a:latin typeface="Arial"/>
              </a:rPr>
              <a:t>0.523</a:t>
            </a:r>
          </a:p>
        </p:txBody>
      </p:sp>
      <p:sp>
        <p:nvSpPr>
          <p:cNvPr id="16" name="TextBox 15"/>
          <p:cNvSpPr txBox="1"/>
          <p:nvPr/>
        </p:nvSpPr>
        <p:spPr>
          <a:xfrm>
            <a:off x="8814816" y="3776472"/>
            <a:ext cx="2478024" cy="274320"/>
          </a:xfrm>
          <a:prstGeom prst="rect">
            <a:avLst/>
          </a:prstGeom>
          <a:noFill/>
        </p:spPr>
        <p:txBody>
          <a:bodyPr wrap="square" lIns="27432" tIns="27432" rIns="27432" bIns="27432" anchor="t">
            <a:spAutoFit/>
          </a:bodyPr>
          <a:lstStyle/>
          <a:p>
            <a:pPr algn="l">
              <a:lnSpc>
                <a:spcPct val="100000"/>
              </a:lnSpc>
            </a:pPr>
            <a:r>
              <a:rPr sz="1250" b="1">
                <a:solidFill>
                  <a:srgbClr val="71828A"/>
                </a:solidFill>
                <a:latin typeface="Arial"/>
              </a:rPr>
              <a:t>TEST ACCURACY</a:t>
            </a:r>
          </a:p>
        </p:txBody>
      </p:sp>
      <p:sp>
        <p:nvSpPr>
          <p:cNvPr id="17" name="TextBox 16"/>
          <p:cNvSpPr txBox="1"/>
          <p:nvPr/>
        </p:nvSpPr>
        <p:spPr>
          <a:xfrm>
            <a:off x="8814816" y="3991357"/>
            <a:ext cx="2478024" cy="274320"/>
          </a:xfrm>
          <a:prstGeom prst="rect">
            <a:avLst/>
          </a:prstGeom>
          <a:noFill/>
        </p:spPr>
        <p:txBody>
          <a:bodyPr wrap="square" lIns="27432" tIns="27432" rIns="27432" bIns="27432" anchor="t">
            <a:spAutoFit/>
          </a:bodyPr>
          <a:lstStyle/>
          <a:p>
            <a:pPr algn="l">
              <a:lnSpc>
                <a:spcPct val="100000"/>
              </a:lnSpc>
            </a:pPr>
            <a:r>
              <a:rPr sz="1150" b="0">
                <a:solidFill>
                  <a:srgbClr val="48606B"/>
                </a:solidFill>
                <a:latin typeface="Arial"/>
              </a:rPr>
              <a:t>Selected Pre-match HGB
Evaluated once after selection</a:t>
            </a:r>
          </a:p>
        </p:txBody>
      </p:sp>
      <p:sp>
        <p:nvSpPr>
          <p:cNvPr id="18" name="Rounded Rectangle 17"/>
          <p:cNvSpPr/>
          <p:nvPr/>
        </p:nvSpPr>
        <p:spPr>
          <a:xfrm>
            <a:off x="8613648" y="4663440"/>
            <a:ext cx="2788920" cy="1051560"/>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613648" y="4663440"/>
            <a:ext cx="73152" cy="1051560"/>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14816" y="4809744"/>
            <a:ext cx="2478024" cy="402336"/>
          </a:xfrm>
          <a:prstGeom prst="rect">
            <a:avLst/>
          </a:prstGeom>
          <a:noFill/>
        </p:spPr>
        <p:txBody>
          <a:bodyPr wrap="square" lIns="27432" tIns="27432" rIns="27432" bIns="27432" anchor="t">
            <a:spAutoFit/>
          </a:bodyPr>
          <a:lstStyle/>
          <a:p>
            <a:pPr algn="l">
              <a:lnSpc>
                <a:spcPct val="100000"/>
              </a:lnSpc>
            </a:pPr>
            <a:r>
              <a:rPr sz="2400" b="1">
                <a:solidFill>
                  <a:srgbClr val="D89A3D"/>
                </a:solidFill>
                <a:latin typeface="Arial"/>
              </a:rPr>
              <a:t>0.427</a:t>
            </a:r>
          </a:p>
        </p:txBody>
      </p:sp>
      <p:sp>
        <p:nvSpPr>
          <p:cNvPr id="21" name="TextBox 20"/>
          <p:cNvSpPr txBox="1"/>
          <p:nvPr/>
        </p:nvSpPr>
        <p:spPr>
          <a:xfrm>
            <a:off x="8814816" y="5221224"/>
            <a:ext cx="2478024" cy="274320"/>
          </a:xfrm>
          <a:prstGeom prst="rect">
            <a:avLst/>
          </a:prstGeom>
          <a:noFill/>
        </p:spPr>
        <p:txBody>
          <a:bodyPr wrap="square" lIns="27432" tIns="27432" rIns="27432" bIns="27432" anchor="t">
            <a:spAutoFit/>
          </a:bodyPr>
          <a:lstStyle/>
          <a:p>
            <a:pPr algn="l">
              <a:lnSpc>
                <a:spcPct val="100000"/>
              </a:lnSpc>
            </a:pPr>
            <a:r>
              <a:rPr sz="1250" b="1">
                <a:solidFill>
                  <a:srgbClr val="71828A"/>
                </a:solidFill>
                <a:latin typeface="Arial"/>
              </a:rPr>
              <a:t>TEST MACRO-F1</a:t>
            </a:r>
          </a:p>
        </p:txBody>
      </p:sp>
      <p:sp>
        <p:nvSpPr>
          <p:cNvPr id="22" name="TextBox 21"/>
          <p:cNvSpPr txBox="1"/>
          <p:nvPr/>
        </p:nvSpPr>
        <p:spPr>
          <a:xfrm>
            <a:off x="8814816" y="5436108"/>
            <a:ext cx="2478024" cy="118871"/>
          </a:xfrm>
          <a:prstGeom prst="rect">
            <a:avLst/>
          </a:prstGeom>
          <a:noFill/>
        </p:spPr>
        <p:txBody>
          <a:bodyPr wrap="square" lIns="27432" tIns="27432" rIns="27432" bIns="27432" anchor="t">
            <a:spAutoFit/>
          </a:bodyPr>
          <a:lstStyle/>
          <a:p>
            <a:pPr algn="l">
              <a:lnSpc>
                <a:spcPct val="100000"/>
              </a:lnSpc>
            </a:pPr>
            <a:r>
              <a:rPr sz="1150" b="0">
                <a:solidFill>
                  <a:srgbClr val="48606B"/>
                </a:solidFill>
                <a:latin typeface="Arial"/>
              </a:rPr>
              <a:t>Initial 0% estimate</a:t>
            </a:r>
          </a:p>
        </p:txBody>
      </p:sp>
      <p:sp>
        <p:nvSpPr>
          <p:cNvPr id="23" name="TextBox 22"/>
          <p:cNvSpPr txBox="1"/>
          <p:nvPr/>
        </p:nvSpPr>
        <p:spPr>
          <a:xfrm>
            <a:off x="1143000" y="6089904"/>
            <a:ext cx="9875520" cy="228600"/>
          </a:xfrm>
          <a:prstGeom prst="rect">
            <a:avLst/>
          </a:prstGeom>
          <a:noFill/>
        </p:spPr>
        <p:txBody>
          <a:bodyPr wrap="square" lIns="27432" tIns="27432" rIns="27432" bIns="27432" anchor="t">
            <a:spAutoFit/>
          </a:bodyPr>
          <a:lstStyle/>
          <a:p>
            <a:pPr algn="ctr">
              <a:lnSpc>
                <a:spcPct val="100000"/>
              </a:lnSpc>
            </a:pPr>
            <a:r>
              <a:rPr sz="1250" b="0">
                <a:solidFill>
                  <a:srgbClr val="71828A"/>
                </a:solidFill>
                <a:latin typeface="Arial"/>
              </a:rPr>
              <a:t>Validation candidate scores are not compared directly with the selected model's test score.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38328"/>
            <a:ext cx="10698480" cy="502920"/>
          </a:xfrm>
          <a:prstGeom prst="rect">
            <a:avLst/>
          </a:prstGeom>
          <a:noFill/>
        </p:spPr>
        <p:txBody>
          <a:bodyPr wrap="square" lIns="27432" tIns="27432" rIns="27432" bIns="27432" anchor="t">
            <a:spAutoFit/>
          </a:bodyPr>
          <a:lstStyle/>
          <a:p>
            <a:pPr algn="l">
              <a:lnSpc>
                <a:spcPct val="100000"/>
              </a:lnSpc>
            </a:pPr>
            <a:r>
              <a:rPr sz="2800" b="1">
                <a:solidFill>
                  <a:srgbClr val="142C3B"/>
                </a:solidFill>
                <a:latin typeface="Arial"/>
              </a:rPr>
              <a:t>Human context improves the matched HGB</a:t>
            </a:r>
          </a:p>
        </p:txBody>
      </p:sp>
      <p:sp>
        <p:nvSpPr>
          <p:cNvPr id="3" name="TextBox 2"/>
          <p:cNvSpPr txBox="1"/>
          <p:nvPr/>
        </p:nvSpPr>
        <p:spPr>
          <a:xfrm>
            <a:off x="685800" y="896112"/>
            <a:ext cx="10652760" cy="283464"/>
          </a:xfrm>
          <a:prstGeom prst="rect">
            <a:avLst/>
          </a:prstGeom>
          <a:noFill/>
        </p:spPr>
        <p:txBody>
          <a:bodyPr wrap="square" lIns="27432" tIns="27432" rIns="27432" bIns="27432" anchor="t">
            <a:spAutoFit/>
          </a:bodyPr>
          <a:lstStyle/>
          <a:p>
            <a:pPr algn="l">
              <a:lnSpc>
                <a:spcPct val="100000"/>
              </a:lnSpc>
            </a:pPr>
            <a:r>
              <a:rPr sz="1250" b="0">
                <a:solidFill>
                  <a:srgbClr val="71828A"/>
                </a:solidFill>
                <a:latin typeface="Arial"/>
              </a:rPr>
              <a:t>Primary metrics pool 14,179 held-out snapshots across the five test checkpoints</a:t>
            </a:r>
          </a:p>
        </p:txBody>
      </p:sp>
      <p:sp>
        <p:nvSpPr>
          <p:cNvPr id="4" name="Rectangle 3"/>
          <p:cNvSpPr/>
          <p:nvPr/>
        </p:nvSpPr>
        <p:spPr>
          <a:xfrm>
            <a:off x="685800" y="1225296"/>
            <a:ext cx="914400" cy="4572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28232"/>
            <a:ext cx="411480" cy="201168"/>
          </a:xfrm>
          <a:prstGeom prst="rect">
            <a:avLst/>
          </a:prstGeom>
          <a:noFill/>
        </p:spPr>
        <p:txBody>
          <a:bodyPr wrap="square" lIns="27432" tIns="27432" rIns="27432" bIns="27432" anchor="t">
            <a:spAutoFit/>
          </a:bodyPr>
          <a:lstStyle/>
          <a:p>
            <a:pPr algn="r">
              <a:lnSpc>
                <a:spcPct val="100000"/>
              </a:lnSpc>
            </a:pPr>
            <a:r>
              <a:rPr sz="1000" b="0">
                <a:solidFill>
                  <a:srgbClr val="71828A"/>
                </a:solidFill>
                <a:latin typeface="Arial"/>
              </a:rPr>
              <a:t>08</a:t>
            </a:r>
          </a:p>
        </p:txBody>
      </p:sp>
      <p:sp>
        <p:nvSpPr>
          <p:cNvPr id="6" name="Rectangle 5"/>
          <p:cNvSpPr/>
          <p:nvPr/>
        </p:nvSpPr>
        <p:spPr>
          <a:xfrm>
            <a:off x="630936" y="1453896"/>
            <a:ext cx="7552944" cy="4489703"/>
          </a:xfrm>
          <a:prstGeom prst="rect">
            <a:avLst/>
          </a:prstGeom>
          <a:solidFill>
            <a:srgbClr val="FFFFFF"/>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05_controlled_model_comparison.png"/>
          <p:cNvPicPr>
            <a:picLocks noChangeAspect="1"/>
          </p:cNvPicPr>
          <p:nvPr/>
        </p:nvPicPr>
        <p:blipFill>
          <a:blip r:embed="rId3"/>
          <a:stretch>
            <a:fillRect/>
          </a:stretch>
        </p:blipFill>
        <p:spPr>
          <a:xfrm>
            <a:off x="658368" y="1860958"/>
            <a:ext cx="7498079" cy="3675579"/>
          </a:xfrm>
          <a:prstGeom prst="rect">
            <a:avLst/>
          </a:prstGeom>
        </p:spPr>
      </p:pic>
      <p:sp>
        <p:nvSpPr>
          <p:cNvPr id="8" name="Rounded Rectangle 7"/>
          <p:cNvSpPr/>
          <p:nvPr/>
        </p:nvSpPr>
        <p:spPr>
          <a:xfrm>
            <a:off x="8430768" y="1572768"/>
            <a:ext cx="2926080" cy="1060704"/>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430768" y="1572768"/>
            <a:ext cx="73152" cy="1060704"/>
          </a:xfrm>
          <a:prstGeom prst="rect">
            <a:avLst/>
          </a:prstGeom>
          <a:solidFill>
            <a:srgbClr val="B55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31936" y="1719072"/>
            <a:ext cx="2615184" cy="402336"/>
          </a:xfrm>
          <a:prstGeom prst="rect">
            <a:avLst/>
          </a:prstGeom>
          <a:noFill/>
        </p:spPr>
        <p:txBody>
          <a:bodyPr wrap="square" lIns="27432" tIns="27432" rIns="27432" bIns="27432" anchor="t">
            <a:spAutoFit/>
          </a:bodyPr>
          <a:lstStyle/>
          <a:p>
            <a:pPr algn="l">
              <a:lnSpc>
                <a:spcPct val="100000"/>
              </a:lnSpc>
            </a:pPr>
            <a:r>
              <a:rPr sz="2400" b="1">
                <a:solidFill>
                  <a:srgbClr val="B5524B"/>
                </a:solidFill>
                <a:latin typeface="Arial"/>
              </a:rPr>
              <a:t>47.6%</a:t>
            </a:r>
          </a:p>
        </p:txBody>
      </p:sp>
      <p:sp>
        <p:nvSpPr>
          <p:cNvPr id="11" name="TextBox 10"/>
          <p:cNvSpPr txBox="1"/>
          <p:nvPr/>
        </p:nvSpPr>
        <p:spPr>
          <a:xfrm>
            <a:off x="8631936" y="2130552"/>
            <a:ext cx="2615184" cy="274320"/>
          </a:xfrm>
          <a:prstGeom prst="rect">
            <a:avLst/>
          </a:prstGeom>
          <a:noFill/>
        </p:spPr>
        <p:txBody>
          <a:bodyPr wrap="square" lIns="27432" tIns="27432" rIns="27432" bIns="27432" anchor="t">
            <a:spAutoFit/>
          </a:bodyPr>
          <a:lstStyle/>
          <a:p>
            <a:pPr algn="l">
              <a:lnSpc>
                <a:spcPct val="100000"/>
              </a:lnSpc>
            </a:pPr>
            <a:r>
              <a:rPr sz="1250" b="1">
                <a:solidFill>
                  <a:srgbClr val="71828A"/>
                </a:solidFill>
                <a:latin typeface="Arial"/>
              </a:rPr>
              <a:t>DIRECT WDL</a:t>
            </a:r>
          </a:p>
        </p:txBody>
      </p:sp>
      <p:sp>
        <p:nvSpPr>
          <p:cNvPr id="12" name="TextBox 11"/>
          <p:cNvSpPr txBox="1"/>
          <p:nvPr/>
        </p:nvSpPr>
        <p:spPr>
          <a:xfrm>
            <a:off x="8631936" y="2297830"/>
            <a:ext cx="2615184" cy="232371"/>
          </a:xfrm>
          <a:prstGeom prst="rect">
            <a:avLst/>
          </a:prstGeom>
          <a:noFill/>
        </p:spPr>
        <p:txBody>
          <a:bodyPr wrap="square" lIns="27432" tIns="27432" rIns="27432" bIns="27432" anchor="t">
            <a:spAutoFit/>
          </a:bodyPr>
          <a:lstStyle/>
          <a:p>
            <a:pPr algn="l">
              <a:lnSpc>
                <a:spcPct val="100000"/>
              </a:lnSpc>
            </a:pPr>
            <a:r>
              <a:rPr sz="1150" b="0" dirty="0">
                <a:solidFill>
                  <a:srgbClr val="48606B"/>
                </a:solidFill>
                <a:latin typeface="Arial"/>
              </a:rPr>
              <a:t>Macro-F1 0.434</a:t>
            </a:r>
            <a:r>
              <a:rPr lang="en-US" sz="1150" b="0" dirty="0">
                <a:solidFill>
                  <a:srgbClr val="48606B"/>
                </a:solidFill>
                <a:latin typeface="Arial"/>
              </a:rPr>
              <a:t> </a:t>
            </a:r>
            <a:r>
              <a:rPr sz="1150" b="0" dirty="0">
                <a:solidFill>
                  <a:srgbClr val="48606B"/>
                </a:solidFill>
                <a:latin typeface="Arial"/>
              </a:rPr>
              <a:t>Log loss 5.751</a:t>
            </a:r>
          </a:p>
        </p:txBody>
      </p:sp>
      <p:sp>
        <p:nvSpPr>
          <p:cNvPr id="13" name="Rounded Rectangle 12"/>
          <p:cNvSpPr/>
          <p:nvPr/>
        </p:nvSpPr>
        <p:spPr>
          <a:xfrm>
            <a:off x="8430768" y="2834640"/>
            <a:ext cx="2926080" cy="1060704"/>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430768" y="2834640"/>
            <a:ext cx="73152" cy="106070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31936" y="2980944"/>
            <a:ext cx="2615184" cy="402336"/>
          </a:xfrm>
          <a:prstGeom prst="rect">
            <a:avLst/>
          </a:prstGeom>
          <a:noFill/>
        </p:spPr>
        <p:txBody>
          <a:bodyPr wrap="square" lIns="27432" tIns="27432" rIns="27432" bIns="27432" anchor="t">
            <a:spAutoFit/>
          </a:bodyPr>
          <a:lstStyle/>
          <a:p>
            <a:pPr algn="l">
              <a:lnSpc>
                <a:spcPct val="100000"/>
              </a:lnSpc>
            </a:pPr>
            <a:r>
              <a:rPr sz="2400" b="1">
                <a:solidFill>
                  <a:srgbClr val="D89A3D"/>
                </a:solidFill>
                <a:latin typeface="Arial"/>
              </a:rPr>
              <a:t>63.4%</a:t>
            </a:r>
          </a:p>
        </p:txBody>
      </p:sp>
      <p:sp>
        <p:nvSpPr>
          <p:cNvPr id="16" name="TextBox 15"/>
          <p:cNvSpPr txBox="1"/>
          <p:nvPr/>
        </p:nvSpPr>
        <p:spPr>
          <a:xfrm>
            <a:off x="8631936" y="3392424"/>
            <a:ext cx="2615184" cy="274320"/>
          </a:xfrm>
          <a:prstGeom prst="rect">
            <a:avLst/>
          </a:prstGeom>
          <a:noFill/>
        </p:spPr>
        <p:txBody>
          <a:bodyPr wrap="square" lIns="27432" tIns="27432" rIns="27432" bIns="27432" anchor="t">
            <a:spAutoFit/>
          </a:bodyPr>
          <a:lstStyle/>
          <a:p>
            <a:pPr algn="l">
              <a:lnSpc>
                <a:spcPct val="100000"/>
              </a:lnSpc>
            </a:pPr>
            <a:r>
              <a:rPr sz="1250" b="1">
                <a:solidFill>
                  <a:srgbClr val="71828A"/>
                </a:solidFill>
                <a:latin typeface="Arial"/>
              </a:rPr>
              <a:t>POSITION-ONLY HGB</a:t>
            </a:r>
          </a:p>
        </p:txBody>
      </p:sp>
      <p:sp>
        <p:nvSpPr>
          <p:cNvPr id="17" name="TextBox 16"/>
          <p:cNvSpPr txBox="1"/>
          <p:nvPr/>
        </p:nvSpPr>
        <p:spPr>
          <a:xfrm>
            <a:off x="8631936" y="3559702"/>
            <a:ext cx="2615184" cy="232371"/>
          </a:xfrm>
          <a:prstGeom prst="rect">
            <a:avLst/>
          </a:prstGeom>
          <a:noFill/>
        </p:spPr>
        <p:txBody>
          <a:bodyPr wrap="square" lIns="27432" tIns="27432" rIns="27432" bIns="27432" anchor="t">
            <a:spAutoFit/>
          </a:bodyPr>
          <a:lstStyle/>
          <a:p>
            <a:pPr algn="l">
              <a:lnSpc>
                <a:spcPct val="100000"/>
              </a:lnSpc>
            </a:pPr>
            <a:r>
              <a:rPr sz="1150" b="0" dirty="0">
                <a:solidFill>
                  <a:srgbClr val="48606B"/>
                </a:solidFill>
                <a:latin typeface="Arial"/>
              </a:rPr>
              <a:t>Macro-F1 0.520</a:t>
            </a:r>
            <a:r>
              <a:rPr lang="en-US" sz="1150" b="0" dirty="0">
                <a:solidFill>
                  <a:srgbClr val="48606B"/>
                </a:solidFill>
                <a:latin typeface="Arial"/>
              </a:rPr>
              <a:t> </a:t>
            </a:r>
            <a:r>
              <a:rPr sz="1150" b="0" dirty="0">
                <a:solidFill>
                  <a:srgbClr val="48606B"/>
                </a:solidFill>
                <a:latin typeface="Arial"/>
              </a:rPr>
              <a:t>Log loss 0.853</a:t>
            </a:r>
          </a:p>
        </p:txBody>
      </p:sp>
      <p:sp>
        <p:nvSpPr>
          <p:cNvPr id="18" name="Rounded Rectangle 17"/>
          <p:cNvSpPr/>
          <p:nvPr/>
        </p:nvSpPr>
        <p:spPr>
          <a:xfrm>
            <a:off x="8430768" y="4096512"/>
            <a:ext cx="2926080" cy="1060704"/>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430768" y="4096512"/>
            <a:ext cx="73152" cy="1060704"/>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31936" y="4242816"/>
            <a:ext cx="2615184" cy="402336"/>
          </a:xfrm>
          <a:prstGeom prst="rect">
            <a:avLst/>
          </a:prstGeom>
          <a:noFill/>
        </p:spPr>
        <p:txBody>
          <a:bodyPr wrap="square" lIns="27432" tIns="27432" rIns="27432" bIns="27432" anchor="t">
            <a:spAutoFit/>
          </a:bodyPr>
          <a:lstStyle/>
          <a:p>
            <a:pPr algn="l">
              <a:lnSpc>
                <a:spcPct val="100000"/>
              </a:lnSpc>
            </a:pPr>
            <a:r>
              <a:rPr sz="2400" b="1">
                <a:solidFill>
                  <a:srgbClr val="007E78"/>
                </a:solidFill>
                <a:latin typeface="Arial"/>
              </a:rPr>
              <a:t>68.7%</a:t>
            </a:r>
          </a:p>
        </p:txBody>
      </p:sp>
      <p:sp>
        <p:nvSpPr>
          <p:cNvPr id="21" name="TextBox 20"/>
          <p:cNvSpPr txBox="1"/>
          <p:nvPr/>
        </p:nvSpPr>
        <p:spPr>
          <a:xfrm>
            <a:off x="8631936" y="4654296"/>
            <a:ext cx="2615184" cy="274320"/>
          </a:xfrm>
          <a:prstGeom prst="rect">
            <a:avLst/>
          </a:prstGeom>
          <a:noFill/>
        </p:spPr>
        <p:txBody>
          <a:bodyPr wrap="square" lIns="27432" tIns="27432" rIns="27432" bIns="27432" anchor="t">
            <a:spAutoFit/>
          </a:bodyPr>
          <a:lstStyle/>
          <a:p>
            <a:pPr algn="l">
              <a:lnSpc>
                <a:spcPct val="100000"/>
              </a:lnSpc>
            </a:pPr>
            <a:r>
              <a:rPr sz="1250" b="1">
                <a:solidFill>
                  <a:srgbClr val="71828A"/>
                </a:solidFill>
                <a:latin typeface="Arial"/>
              </a:rPr>
              <a:t>HUMAN-CONTEXT HGB</a:t>
            </a:r>
          </a:p>
        </p:txBody>
      </p:sp>
      <p:sp>
        <p:nvSpPr>
          <p:cNvPr id="22" name="TextBox 21"/>
          <p:cNvSpPr txBox="1"/>
          <p:nvPr/>
        </p:nvSpPr>
        <p:spPr>
          <a:xfrm>
            <a:off x="8631936" y="4821574"/>
            <a:ext cx="2615184" cy="232371"/>
          </a:xfrm>
          <a:prstGeom prst="rect">
            <a:avLst/>
          </a:prstGeom>
          <a:noFill/>
        </p:spPr>
        <p:txBody>
          <a:bodyPr wrap="square" lIns="27432" tIns="27432" rIns="27432" bIns="27432" anchor="t">
            <a:spAutoFit/>
          </a:bodyPr>
          <a:lstStyle/>
          <a:p>
            <a:pPr algn="l">
              <a:lnSpc>
                <a:spcPct val="100000"/>
              </a:lnSpc>
            </a:pPr>
            <a:r>
              <a:rPr sz="1150" b="0" dirty="0">
                <a:solidFill>
                  <a:srgbClr val="48606B"/>
                </a:solidFill>
                <a:latin typeface="Arial"/>
              </a:rPr>
              <a:t>Macro-F1 0.545</a:t>
            </a:r>
            <a:r>
              <a:rPr lang="en-US" sz="1150" b="0" dirty="0">
                <a:solidFill>
                  <a:srgbClr val="48606B"/>
                </a:solidFill>
                <a:latin typeface="Arial"/>
              </a:rPr>
              <a:t> </a:t>
            </a:r>
            <a:r>
              <a:rPr sz="1150" b="0" dirty="0">
                <a:solidFill>
                  <a:srgbClr val="48606B"/>
                </a:solidFill>
                <a:latin typeface="Arial"/>
              </a:rPr>
              <a:t>Log loss 0.714</a:t>
            </a:r>
          </a:p>
        </p:txBody>
      </p:sp>
      <p:sp>
        <p:nvSpPr>
          <p:cNvPr id="23" name="Rounded Rectangle 22"/>
          <p:cNvSpPr/>
          <p:nvPr/>
        </p:nvSpPr>
        <p:spPr>
          <a:xfrm>
            <a:off x="1874519" y="5998464"/>
            <a:ext cx="8549640" cy="365760"/>
          </a:xfrm>
          <a:prstGeom prst="roundRect">
            <a:avLst/>
          </a:prstGeom>
          <a:solidFill>
            <a:srgbClr val="E6F1EF"/>
          </a:solidFill>
          <a:ln w="12700">
            <a:solidFill>
              <a:srgbClr val="E6F1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993392" y="6080760"/>
            <a:ext cx="8321040" cy="192024"/>
          </a:xfrm>
          <a:prstGeom prst="rect">
            <a:avLst/>
          </a:prstGeom>
          <a:noFill/>
        </p:spPr>
        <p:txBody>
          <a:bodyPr wrap="square" lIns="27432" tIns="27432" rIns="27432" bIns="27432" anchor="t">
            <a:spAutoFit/>
          </a:bodyPr>
          <a:lstStyle/>
          <a:p>
            <a:pPr algn="ctr">
              <a:lnSpc>
                <a:spcPct val="100000"/>
              </a:lnSpc>
            </a:pPr>
            <a:r>
              <a:rPr sz="1250" b="1">
                <a:solidFill>
                  <a:srgbClr val="007E78"/>
                </a:solidFill>
                <a:latin typeface="Arial"/>
              </a:rPr>
              <a:t>+5.4 accuracy points   ·   +0.025 macro-F1   ·   −0.139 log loss vs position-only HGB</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38328"/>
            <a:ext cx="10698480" cy="502920"/>
          </a:xfrm>
          <a:prstGeom prst="rect">
            <a:avLst/>
          </a:prstGeom>
          <a:noFill/>
        </p:spPr>
        <p:txBody>
          <a:bodyPr wrap="square" lIns="27432" tIns="27432" rIns="27432" bIns="27432" anchor="t">
            <a:spAutoFit/>
          </a:bodyPr>
          <a:lstStyle/>
          <a:p>
            <a:pPr algn="l">
              <a:lnSpc>
                <a:spcPct val="100000"/>
              </a:lnSpc>
            </a:pPr>
            <a:r>
              <a:rPr sz="2800" b="1">
                <a:solidFill>
                  <a:srgbClr val="142C3B"/>
                </a:solidFill>
                <a:latin typeface="Arial"/>
              </a:rPr>
              <a:t>What drives the Human-context HGB?</a:t>
            </a:r>
          </a:p>
        </p:txBody>
      </p:sp>
      <p:sp>
        <p:nvSpPr>
          <p:cNvPr id="3" name="TextBox 2"/>
          <p:cNvSpPr txBox="1"/>
          <p:nvPr/>
        </p:nvSpPr>
        <p:spPr>
          <a:xfrm>
            <a:off x="685800" y="896112"/>
            <a:ext cx="10652760" cy="283464"/>
          </a:xfrm>
          <a:prstGeom prst="rect">
            <a:avLst/>
          </a:prstGeom>
          <a:noFill/>
        </p:spPr>
        <p:txBody>
          <a:bodyPr wrap="square" lIns="27432" tIns="27432" rIns="27432" bIns="27432" anchor="t">
            <a:spAutoFit/>
          </a:bodyPr>
          <a:lstStyle/>
          <a:p>
            <a:pPr algn="l">
              <a:lnSpc>
                <a:spcPct val="100000"/>
              </a:lnSpc>
            </a:pPr>
            <a:r>
              <a:rPr sz="1250" b="0">
                <a:solidFill>
                  <a:srgbClr val="71828A"/>
                </a:solidFill>
                <a:latin typeface="Arial"/>
              </a:rPr>
              <a:t>Permutation importance measures validation macro-F1 loss when a feature is shuffled</a:t>
            </a:r>
          </a:p>
        </p:txBody>
      </p:sp>
      <p:sp>
        <p:nvSpPr>
          <p:cNvPr id="4" name="Rectangle 3"/>
          <p:cNvSpPr/>
          <p:nvPr/>
        </p:nvSpPr>
        <p:spPr>
          <a:xfrm>
            <a:off x="685800" y="1225296"/>
            <a:ext cx="914400" cy="4572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28232"/>
            <a:ext cx="411480" cy="201168"/>
          </a:xfrm>
          <a:prstGeom prst="rect">
            <a:avLst/>
          </a:prstGeom>
          <a:noFill/>
        </p:spPr>
        <p:txBody>
          <a:bodyPr wrap="square" lIns="27432" tIns="27432" rIns="27432" bIns="27432" anchor="t">
            <a:spAutoFit/>
          </a:bodyPr>
          <a:lstStyle/>
          <a:p>
            <a:pPr algn="r">
              <a:lnSpc>
                <a:spcPct val="100000"/>
              </a:lnSpc>
            </a:pPr>
            <a:r>
              <a:rPr sz="1000" b="0">
                <a:solidFill>
                  <a:srgbClr val="71828A"/>
                </a:solidFill>
                <a:latin typeface="Arial"/>
              </a:rPr>
              <a:t>09</a:t>
            </a:r>
          </a:p>
        </p:txBody>
      </p:sp>
      <p:sp>
        <p:nvSpPr>
          <p:cNvPr id="6" name="Rectangle 5"/>
          <p:cNvSpPr/>
          <p:nvPr/>
        </p:nvSpPr>
        <p:spPr>
          <a:xfrm>
            <a:off x="667512" y="1417320"/>
            <a:ext cx="7031736" cy="4718303"/>
          </a:xfrm>
          <a:prstGeom prst="rect">
            <a:avLst/>
          </a:prstGeom>
          <a:solidFill>
            <a:srgbClr val="FFFFFF"/>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04_human_context_feature_importance.png"/>
          <p:cNvPicPr>
            <a:picLocks noChangeAspect="1"/>
          </p:cNvPicPr>
          <p:nvPr/>
        </p:nvPicPr>
        <p:blipFill>
          <a:blip r:embed="rId3"/>
          <a:stretch>
            <a:fillRect/>
          </a:stretch>
        </p:blipFill>
        <p:spPr>
          <a:xfrm>
            <a:off x="694944" y="1479721"/>
            <a:ext cx="6976872" cy="4593501"/>
          </a:xfrm>
          <a:prstGeom prst="rect">
            <a:avLst/>
          </a:prstGeom>
        </p:spPr>
      </p:pic>
      <p:sp>
        <p:nvSpPr>
          <p:cNvPr id="8" name="Rounded Rectangle 7"/>
          <p:cNvSpPr/>
          <p:nvPr/>
        </p:nvSpPr>
        <p:spPr>
          <a:xfrm>
            <a:off x="7973568" y="1572768"/>
            <a:ext cx="3401568" cy="1170432"/>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973568" y="1572768"/>
            <a:ext cx="73152" cy="1170432"/>
          </a:xfrm>
          <a:prstGeom prst="rect">
            <a:avLst/>
          </a:prstGeom>
          <a:solidFill>
            <a:srgbClr val="B55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74736" y="1700784"/>
            <a:ext cx="3090672" cy="310896"/>
          </a:xfrm>
          <a:prstGeom prst="rect">
            <a:avLst/>
          </a:prstGeom>
          <a:noFill/>
        </p:spPr>
        <p:txBody>
          <a:bodyPr wrap="square" lIns="27432" tIns="27432" rIns="27432" bIns="27432" anchor="t">
            <a:spAutoFit/>
          </a:bodyPr>
          <a:lstStyle/>
          <a:p>
            <a:pPr algn="l">
              <a:lnSpc>
                <a:spcPct val="100000"/>
              </a:lnSpc>
            </a:pPr>
            <a:r>
              <a:rPr sz="1500" b="1">
                <a:solidFill>
                  <a:srgbClr val="B5524B"/>
                </a:solidFill>
                <a:latin typeface="Arial"/>
              </a:rPr>
              <a:t>ENGINE STATE</a:t>
            </a:r>
          </a:p>
        </p:txBody>
      </p:sp>
      <p:sp>
        <p:nvSpPr>
          <p:cNvPr id="11" name="TextBox 10"/>
          <p:cNvSpPr txBox="1"/>
          <p:nvPr/>
        </p:nvSpPr>
        <p:spPr>
          <a:xfrm>
            <a:off x="8174736" y="2075688"/>
            <a:ext cx="3090672" cy="585216"/>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wdl_wins and score_cp dominate: the board remains the strongest evidence.</a:t>
            </a:r>
          </a:p>
        </p:txBody>
      </p:sp>
      <p:sp>
        <p:nvSpPr>
          <p:cNvPr id="12" name="Rounded Rectangle 11"/>
          <p:cNvSpPr/>
          <p:nvPr/>
        </p:nvSpPr>
        <p:spPr>
          <a:xfrm>
            <a:off x="7973568" y="2980944"/>
            <a:ext cx="3401568" cy="1170432"/>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973568" y="2980944"/>
            <a:ext cx="73152" cy="1170432"/>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74736" y="3108960"/>
            <a:ext cx="3090672" cy="310896"/>
          </a:xfrm>
          <a:prstGeom prst="rect">
            <a:avLst/>
          </a:prstGeom>
          <a:noFill/>
        </p:spPr>
        <p:txBody>
          <a:bodyPr wrap="square" lIns="27432" tIns="27432" rIns="27432" bIns="27432" anchor="t">
            <a:spAutoFit/>
          </a:bodyPr>
          <a:lstStyle/>
          <a:p>
            <a:pPr algn="l">
              <a:lnSpc>
                <a:spcPct val="100000"/>
              </a:lnSpc>
            </a:pPr>
            <a:r>
              <a:rPr sz="1500" b="1">
                <a:solidFill>
                  <a:srgbClr val="007E78"/>
                </a:solidFill>
                <a:latin typeface="Arial"/>
              </a:rPr>
              <a:t>HUMAN CONTEXT</a:t>
            </a:r>
          </a:p>
        </p:txBody>
      </p:sp>
      <p:sp>
        <p:nvSpPr>
          <p:cNvPr id="15" name="TextBox 14"/>
          <p:cNvSpPr txBox="1"/>
          <p:nvPr/>
        </p:nvSpPr>
        <p:spPr>
          <a:xfrm>
            <a:off x="8174736" y="3483863"/>
            <a:ext cx="3090672" cy="585216"/>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rating_diff remains important after the objective position is known.</a:t>
            </a:r>
          </a:p>
        </p:txBody>
      </p:sp>
      <p:sp>
        <p:nvSpPr>
          <p:cNvPr id="16" name="Rounded Rectangle 15"/>
          <p:cNvSpPr/>
          <p:nvPr/>
        </p:nvSpPr>
        <p:spPr>
          <a:xfrm>
            <a:off x="7973568" y="4389120"/>
            <a:ext cx="3401568" cy="1170432"/>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973568" y="4389120"/>
            <a:ext cx="73152" cy="1170432"/>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74736" y="4517136"/>
            <a:ext cx="3090672" cy="310896"/>
          </a:xfrm>
          <a:prstGeom prst="rect">
            <a:avLst/>
          </a:prstGeom>
          <a:noFill/>
        </p:spPr>
        <p:txBody>
          <a:bodyPr wrap="square" lIns="27432" tIns="27432" rIns="27432" bIns="27432" anchor="t">
            <a:spAutoFit/>
          </a:bodyPr>
          <a:lstStyle/>
          <a:p>
            <a:pPr algn="l">
              <a:lnSpc>
                <a:spcPct val="100000"/>
              </a:lnSpc>
            </a:pPr>
            <a:r>
              <a:rPr sz="1500" b="1">
                <a:solidFill>
                  <a:srgbClr val="D89A3D"/>
                </a:solidFill>
                <a:latin typeface="Arial"/>
              </a:rPr>
              <a:t>GAME PHASE</a:t>
            </a:r>
          </a:p>
        </p:txBody>
      </p:sp>
      <p:sp>
        <p:nvSpPr>
          <p:cNvPr id="19" name="TextBox 18"/>
          <p:cNvSpPr txBox="1"/>
          <p:nvPr/>
        </p:nvSpPr>
        <p:spPr>
          <a:xfrm>
            <a:off x="8174736" y="4892040"/>
            <a:ext cx="3090672" cy="585216"/>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material_total and ply help interpret how convertible a position may be.</a:t>
            </a:r>
          </a:p>
        </p:txBody>
      </p:sp>
      <p:sp>
        <p:nvSpPr>
          <p:cNvPr id="20" name="TextBox 19"/>
          <p:cNvSpPr txBox="1"/>
          <p:nvPr/>
        </p:nvSpPr>
        <p:spPr>
          <a:xfrm>
            <a:off x="8028431" y="5852160"/>
            <a:ext cx="3291840" cy="292608"/>
          </a:xfrm>
          <a:prstGeom prst="rect">
            <a:avLst/>
          </a:prstGeom>
          <a:noFill/>
        </p:spPr>
        <p:txBody>
          <a:bodyPr wrap="square" lIns="27432" tIns="27432" rIns="27432" bIns="27432" anchor="t">
            <a:spAutoFit/>
          </a:bodyPr>
          <a:lstStyle/>
          <a:p>
            <a:pPr algn="ctr">
              <a:lnSpc>
                <a:spcPct val="100000"/>
              </a:lnSpc>
            </a:pPr>
            <a:r>
              <a:rPr sz="1250" b="1">
                <a:solidFill>
                  <a:srgbClr val="71828A"/>
                </a:solidFill>
                <a:latin typeface="Arial"/>
              </a:rPr>
              <a:t>Importance supports complementarity; it does not establish causality.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38328"/>
            <a:ext cx="10698480" cy="502920"/>
          </a:xfrm>
          <a:prstGeom prst="rect">
            <a:avLst/>
          </a:prstGeom>
          <a:noFill/>
        </p:spPr>
        <p:txBody>
          <a:bodyPr wrap="square" lIns="27432" tIns="27432" rIns="27432" bIns="27432" anchor="t">
            <a:spAutoFit/>
          </a:bodyPr>
          <a:lstStyle/>
          <a:p>
            <a:pPr algn="l">
              <a:lnSpc>
                <a:spcPct val="100000"/>
              </a:lnSpc>
            </a:pPr>
            <a:r>
              <a:rPr sz="2800" b="1">
                <a:solidFill>
                  <a:srgbClr val="142C3B"/>
                </a:solidFill>
                <a:latin typeface="Arial"/>
              </a:rPr>
              <a:t>Predictions strengthen as the game unfolds</a:t>
            </a:r>
          </a:p>
        </p:txBody>
      </p:sp>
      <p:sp>
        <p:nvSpPr>
          <p:cNvPr id="3" name="TextBox 2"/>
          <p:cNvSpPr txBox="1"/>
          <p:nvPr/>
        </p:nvSpPr>
        <p:spPr>
          <a:xfrm>
            <a:off x="685800" y="896112"/>
            <a:ext cx="10652760" cy="283464"/>
          </a:xfrm>
          <a:prstGeom prst="rect">
            <a:avLst/>
          </a:prstGeom>
          <a:noFill/>
        </p:spPr>
        <p:txBody>
          <a:bodyPr wrap="square" lIns="27432" tIns="27432" rIns="27432" bIns="27432" anchor="t">
            <a:spAutoFit/>
          </a:bodyPr>
          <a:lstStyle/>
          <a:p>
            <a:pPr algn="l">
              <a:lnSpc>
                <a:spcPct val="100000"/>
              </a:lnSpc>
            </a:pPr>
            <a:r>
              <a:rPr sz="1250" b="0">
                <a:solidFill>
                  <a:srgbClr val="71828A"/>
                </a:solidFill>
                <a:latin typeface="Arial"/>
              </a:rPr>
              <a:t>Percentage checkpoints are retrospective reporting locations, never model inputs</a:t>
            </a:r>
          </a:p>
        </p:txBody>
      </p:sp>
      <p:sp>
        <p:nvSpPr>
          <p:cNvPr id="4" name="Rectangle 3"/>
          <p:cNvSpPr/>
          <p:nvPr/>
        </p:nvSpPr>
        <p:spPr>
          <a:xfrm>
            <a:off x="685800" y="1225296"/>
            <a:ext cx="914400" cy="4572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28232"/>
            <a:ext cx="411480" cy="201168"/>
          </a:xfrm>
          <a:prstGeom prst="rect">
            <a:avLst/>
          </a:prstGeom>
          <a:noFill/>
        </p:spPr>
        <p:txBody>
          <a:bodyPr wrap="square" lIns="27432" tIns="27432" rIns="27432" bIns="27432" anchor="t">
            <a:spAutoFit/>
          </a:bodyPr>
          <a:lstStyle/>
          <a:p>
            <a:pPr algn="r">
              <a:lnSpc>
                <a:spcPct val="100000"/>
              </a:lnSpc>
            </a:pPr>
            <a:r>
              <a:rPr sz="1000" b="0">
                <a:solidFill>
                  <a:srgbClr val="71828A"/>
                </a:solidFill>
                <a:latin typeface="Arial"/>
              </a:rPr>
              <a:t>10</a:t>
            </a:r>
          </a:p>
        </p:txBody>
      </p:sp>
      <p:sp>
        <p:nvSpPr>
          <p:cNvPr id="6" name="Rectangle 5"/>
          <p:cNvSpPr/>
          <p:nvPr/>
        </p:nvSpPr>
        <p:spPr>
          <a:xfrm>
            <a:off x="594360" y="1435608"/>
            <a:ext cx="8055864" cy="4581144"/>
          </a:xfrm>
          <a:prstGeom prst="rect">
            <a:avLst/>
          </a:prstGeom>
          <a:solidFill>
            <a:srgbClr val="FFFFFF"/>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06_progressive_model_comparison.png"/>
          <p:cNvPicPr>
            <a:picLocks noChangeAspect="1"/>
          </p:cNvPicPr>
          <p:nvPr/>
        </p:nvPicPr>
        <p:blipFill>
          <a:blip r:embed="rId3"/>
          <a:stretch>
            <a:fillRect/>
          </a:stretch>
        </p:blipFill>
        <p:spPr>
          <a:xfrm>
            <a:off x="621792" y="2328414"/>
            <a:ext cx="8001000" cy="2795530"/>
          </a:xfrm>
          <a:prstGeom prst="rect">
            <a:avLst/>
          </a:prstGeom>
        </p:spPr>
      </p:pic>
      <p:sp>
        <p:nvSpPr>
          <p:cNvPr id="8" name="Rounded Rectangle 7"/>
          <p:cNvSpPr/>
          <p:nvPr/>
        </p:nvSpPr>
        <p:spPr>
          <a:xfrm>
            <a:off x="8869680" y="1536192"/>
            <a:ext cx="2468880" cy="987552"/>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869680" y="1536192"/>
            <a:ext cx="73152" cy="987552"/>
          </a:xfrm>
          <a:prstGeom prst="rect">
            <a:avLst/>
          </a:prstGeom>
          <a:solidFill>
            <a:srgbClr val="486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070848" y="1682495"/>
            <a:ext cx="2157984" cy="402336"/>
          </a:xfrm>
          <a:prstGeom prst="rect">
            <a:avLst/>
          </a:prstGeom>
          <a:noFill/>
        </p:spPr>
        <p:txBody>
          <a:bodyPr wrap="square" lIns="27432" tIns="27432" rIns="27432" bIns="27432" anchor="t">
            <a:spAutoFit/>
          </a:bodyPr>
          <a:lstStyle/>
          <a:p>
            <a:pPr algn="l">
              <a:lnSpc>
                <a:spcPct val="100000"/>
              </a:lnSpc>
            </a:pPr>
            <a:r>
              <a:rPr sz="2400" b="1">
                <a:solidFill>
                  <a:srgbClr val="48606B"/>
                </a:solidFill>
                <a:latin typeface="Arial"/>
              </a:rPr>
              <a:t>52.3%</a:t>
            </a:r>
          </a:p>
        </p:txBody>
      </p:sp>
      <p:sp>
        <p:nvSpPr>
          <p:cNvPr id="11" name="TextBox 10"/>
          <p:cNvSpPr txBox="1"/>
          <p:nvPr/>
        </p:nvSpPr>
        <p:spPr>
          <a:xfrm>
            <a:off x="9070848" y="2093976"/>
            <a:ext cx="2157984" cy="274320"/>
          </a:xfrm>
          <a:prstGeom prst="rect">
            <a:avLst/>
          </a:prstGeom>
          <a:noFill/>
        </p:spPr>
        <p:txBody>
          <a:bodyPr wrap="square" lIns="27432" tIns="27432" rIns="27432" bIns="27432" anchor="t">
            <a:spAutoFit/>
          </a:bodyPr>
          <a:lstStyle/>
          <a:p>
            <a:pPr algn="l">
              <a:lnSpc>
                <a:spcPct val="100000"/>
              </a:lnSpc>
            </a:pPr>
            <a:r>
              <a:rPr sz="1250" b="1">
                <a:solidFill>
                  <a:srgbClr val="71828A"/>
                </a:solidFill>
                <a:latin typeface="Arial"/>
              </a:rPr>
              <a:t>0% · PRE-MATCH</a:t>
            </a:r>
          </a:p>
        </p:txBody>
      </p:sp>
      <p:sp>
        <p:nvSpPr>
          <p:cNvPr id="12" name="TextBox 11"/>
          <p:cNvSpPr txBox="1"/>
          <p:nvPr/>
        </p:nvSpPr>
        <p:spPr>
          <a:xfrm>
            <a:off x="9070848" y="2267712"/>
            <a:ext cx="2157984" cy="54864"/>
          </a:xfrm>
          <a:prstGeom prst="rect">
            <a:avLst/>
          </a:prstGeom>
          <a:noFill/>
        </p:spPr>
        <p:txBody>
          <a:bodyPr wrap="square" lIns="27432" tIns="27432" rIns="27432" bIns="27432" anchor="t">
            <a:spAutoFit/>
          </a:bodyPr>
          <a:lstStyle/>
          <a:p>
            <a:pPr algn="l">
              <a:lnSpc>
                <a:spcPct val="100000"/>
              </a:lnSpc>
            </a:pPr>
            <a:r>
              <a:rPr sz="1150" b="0" dirty="0">
                <a:solidFill>
                  <a:srgbClr val="48606B"/>
                </a:solidFill>
                <a:latin typeface="Arial"/>
              </a:rPr>
              <a:t>Separate Pre-match HGB</a:t>
            </a:r>
          </a:p>
        </p:txBody>
      </p:sp>
      <p:sp>
        <p:nvSpPr>
          <p:cNvPr id="13" name="Rounded Rectangle 12"/>
          <p:cNvSpPr/>
          <p:nvPr/>
        </p:nvSpPr>
        <p:spPr>
          <a:xfrm>
            <a:off x="8869680" y="2761488"/>
            <a:ext cx="2468880" cy="987552"/>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869680" y="2761488"/>
            <a:ext cx="73152" cy="987552"/>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70848" y="2907792"/>
            <a:ext cx="2157984" cy="402336"/>
          </a:xfrm>
          <a:prstGeom prst="rect">
            <a:avLst/>
          </a:prstGeom>
          <a:noFill/>
        </p:spPr>
        <p:txBody>
          <a:bodyPr wrap="square" lIns="27432" tIns="27432" rIns="27432" bIns="27432" anchor="t">
            <a:spAutoFit/>
          </a:bodyPr>
          <a:lstStyle/>
          <a:p>
            <a:pPr algn="l">
              <a:lnSpc>
                <a:spcPct val="100000"/>
              </a:lnSpc>
            </a:pPr>
            <a:r>
              <a:rPr sz="2400" b="1">
                <a:solidFill>
                  <a:srgbClr val="D89A3D"/>
                </a:solidFill>
                <a:latin typeface="Arial"/>
              </a:rPr>
              <a:t>64.9%</a:t>
            </a:r>
          </a:p>
        </p:txBody>
      </p:sp>
      <p:sp>
        <p:nvSpPr>
          <p:cNvPr id="16" name="TextBox 15"/>
          <p:cNvSpPr txBox="1"/>
          <p:nvPr/>
        </p:nvSpPr>
        <p:spPr>
          <a:xfrm>
            <a:off x="9070848" y="3319272"/>
            <a:ext cx="2157984" cy="274320"/>
          </a:xfrm>
          <a:prstGeom prst="rect">
            <a:avLst/>
          </a:prstGeom>
          <a:noFill/>
        </p:spPr>
        <p:txBody>
          <a:bodyPr wrap="square" lIns="27432" tIns="27432" rIns="27432" bIns="27432" anchor="t">
            <a:spAutoFit/>
          </a:bodyPr>
          <a:lstStyle/>
          <a:p>
            <a:pPr algn="l">
              <a:lnSpc>
                <a:spcPct val="100000"/>
              </a:lnSpc>
            </a:pPr>
            <a:r>
              <a:rPr sz="1250" b="1">
                <a:solidFill>
                  <a:srgbClr val="71828A"/>
                </a:solidFill>
                <a:latin typeface="Arial"/>
              </a:rPr>
              <a:t>50% · MAIN</a:t>
            </a:r>
          </a:p>
        </p:txBody>
      </p:sp>
      <p:sp>
        <p:nvSpPr>
          <p:cNvPr id="17" name="TextBox 16"/>
          <p:cNvSpPr txBox="1"/>
          <p:nvPr/>
        </p:nvSpPr>
        <p:spPr>
          <a:xfrm>
            <a:off x="9070848" y="3499787"/>
            <a:ext cx="2157984" cy="54864"/>
          </a:xfrm>
          <a:prstGeom prst="rect">
            <a:avLst/>
          </a:prstGeom>
          <a:noFill/>
        </p:spPr>
        <p:txBody>
          <a:bodyPr wrap="square" lIns="27432" tIns="27432" rIns="27432" bIns="27432" anchor="t">
            <a:spAutoFit/>
          </a:bodyPr>
          <a:lstStyle/>
          <a:p>
            <a:pPr algn="l">
              <a:lnSpc>
                <a:spcPct val="100000"/>
              </a:lnSpc>
            </a:pPr>
            <a:r>
              <a:rPr sz="1150" b="0" dirty="0">
                <a:solidFill>
                  <a:srgbClr val="48606B"/>
                </a:solidFill>
                <a:latin typeface="Arial"/>
              </a:rPr>
              <a:t>Macro-F1 0.498</a:t>
            </a:r>
          </a:p>
        </p:txBody>
      </p:sp>
      <p:sp>
        <p:nvSpPr>
          <p:cNvPr id="18" name="Rounded Rectangle 17"/>
          <p:cNvSpPr/>
          <p:nvPr/>
        </p:nvSpPr>
        <p:spPr>
          <a:xfrm>
            <a:off x="8869680" y="3986784"/>
            <a:ext cx="2468880" cy="987552"/>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869680" y="3986784"/>
            <a:ext cx="73152" cy="987552"/>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70848" y="4133088"/>
            <a:ext cx="2157984" cy="402336"/>
          </a:xfrm>
          <a:prstGeom prst="rect">
            <a:avLst/>
          </a:prstGeom>
          <a:noFill/>
        </p:spPr>
        <p:txBody>
          <a:bodyPr wrap="square" lIns="27432" tIns="27432" rIns="27432" bIns="27432" anchor="t">
            <a:spAutoFit/>
          </a:bodyPr>
          <a:lstStyle/>
          <a:p>
            <a:pPr algn="l">
              <a:lnSpc>
                <a:spcPct val="100000"/>
              </a:lnSpc>
            </a:pPr>
            <a:r>
              <a:rPr sz="2400" b="1">
                <a:solidFill>
                  <a:srgbClr val="007E78"/>
                </a:solidFill>
                <a:latin typeface="Arial"/>
              </a:rPr>
              <a:t>89.9%</a:t>
            </a:r>
          </a:p>
        </p:txBody>
      </p:sp>
      <p:sp>
        <p:nvSpPr>
          <p:cNvPr id="21" name="TextBox 20"/>
          <p:cNvSpPr txBox="1"/>
          <p:nvPr/>
        </p:nvSpPr>
        <p:spPr>
          <a:xfrm>
            <a:off x="9070848" y="4544568"/>
            <a:ext cx="2157984" cy="274320"/>
          </a:xfrm>
          <a:prstGeom prst="rect">
            <a:avLst/>
          </a:prstGeom>
          <a:noFill/>
        </p:spPr>
        <p:txBody>
          <a:bodyPr wrap="square" lIns="27432" tIns="27432" rIns="27432" bIns="27432" anchor="t">
            <a:spAutoFit/>
          </a:bodyPr>
          <a:lstStyle/>
          <a:p>
            <a:pPr algn="l">
              <a:lnSpc>
                <a:spcPct val="100000"/>
              </a:lnSpc>
            </a:pPr>
            <a:r>
              <a:rPr sz="1250" b="1" dirty="0">
                <a:solidFill>
                  <a:srgbClr val="71828A"/>
                </a:solidFill>
                <a:latin typeface="Arial"/>
              </a:rPr>
              <a:t>100% · MAIN</a:t>
            </a:r>
          </a:p>
        </p:txBody>
      </p:sp>
      <p:sp>
        <p:nvSpPr>
          <p:cNvPr id="22" name="TextBox 21"/>
          <p:cNvSpPr txBox="1"/>
          <p:nvPr/>
        </p:nvSpPr>
        <p:spPr>
          <a:xfrm>
            <a:off x="9070848" y="4718304"/>
            <a:ext cx="2157984" cy="54864"/>
          </a:xfrm>
          <a:prstGeom prst="rect">
            <a:avLst/>
          </a:prstGeom>
          <a:noFill/>
        </p:spPr>
        <p:txBody>
          <a:bodyPr wrap="square" lIns="27432" tIns="27432" rIns="27432" bIns="27432" anchor="t">
            <a:spAutoFit/>
          </a:bodyPr>
          <a:lstStyle/>
          <a:p>
            <a:pPr algn="l">
              <a:lnSpc>
                <a:spcPct val="100000"/>
              </a:lnSpc>
            </a:pPr>
            <a:r>
              <a:rPr sz="1150" b="0" dirty="0">
                <a:solidFill>
                  <a:srgbClr val="48606B"/>
                </a:solidFill>
                <a:latin typeface="Arial"/>
              </a:rPr>
              <a:t>Macro-F1 0.779</a:t>
            </a:r>
          </a:p>
        </p:txBody>
      </p:sp>
      <p:sp>
        <p:nvSpPr>
          <p:cNvPr id="23" name="TextBox 22"/>
          <p:cNvSpPr txBox="1"/>
          <p:nvPr/>
        </p:nvSpPr>
        <p:spPr>
          <a:xfrm>
            <a:off x="8887968" y="5321808"/>
            <a:ext cx="2450592" cy="548640"/>
          </a:xfrm>
          <a:prstGeom prst="rect">
            <a:avLst/>
          </a:prstGeom>
          <a:noFill/>
        </p:spPr>
        <p:txBody>
          <a:bodyPr wrap="square" lIns="27432" tIns="27432" rIns="27432" bIns="27432" anchor="t">
            <a:spAutoFit/>
          </a:bodyPr>
          <a:lstStyle/>
          <a:p>
            <a:pPr algn="ctr">
              <a:lnSpc>
                <a:spcPct val="100000"/>
              </a:lnSpc>
            </a:pPr>
            <a:r>
              <a:rPr sz="1350" b="1">
                <a:solidFill>
                  <a:srgbClr val="B5524B"/>
                </a:solidFill>
                <a:latin typeface="Arial"/>
              </a:rPr>
              <a:t>Direct WDL reaches 90.1% at the final recorded board.</a:t>
            </a:r>
          </a:p>
        </p:txBody>
      </p:sp>
      <p:sp>
        <p:nvSpPr>
          <p:cNvPr id="24" name="TextBox 23"/>
          <p:cNvSpPr txBox="1"/>
          <p:nvPr/>
        </p:nvSpPr>
        <p:spPr>
          <a:xfrm>
            <a:off x="1234440" y="6053328"/>
            <a:ext cx="6903720" cy="219456"/>
          </a:xfrm>
          <a:prstGeom prst="rect">
            <a:avLst/>
          </a:prstGeom>
          <a:noFill/>
        </p:spPr>
        <p:txBody>
          <a:bodyPr wrap="square" lIns="27432" tIns="27432" rIns="27432" bIns="27432" anchor="t">
            <a:spAutoFit/>
          </a:bodyPr>
          <a:lstStyle/>
          <a:p>
            <a:pPr algn="ctr">
              <a:lnSpc>
                <a:spcPct val="100000"/>
              </a:lnSpc>
            </a:pPr>
            <a:r>
              <a:rPr sz="1250" b="0">
                <a:solidFill>
                  <a:srgbClr val="71828A"/>
                </a:solidFill>
                <a:latin typeface="Arial"/>
              </a:rPr>
              <a:t>Main-model AUPC (10–100%): Accuracy 0.683 · Macro-F1 0.541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38328"/>
            <a:ext cx="10698480" cy="502920"/>
          </a:xfrm>
          <a:prstGeom prst="rect">
            <a:avLst/>
          </a:prstGeom>
          <a:noFill/>
        </p:spPr>
        <p:txBody>
          <a:bodyPr wrap="square" lIns="27432" tIns="27432" rIns="27432" bIns="27432" anchor="t">
            <a:spAutoFit/>
          </a:bodyPr>
          <a:lstStyle/>
          <a:p>
            <a:pPr algn="l">
              <a:lnSpc>
                <a:spcPct val="100000"/>
              </a:lnSpc>
            </a:pPr>
            <a:r>
              <a:rPr sz="2800" b="1">
                <a:solidFill>
                  <a:srgbClr val="142C3B"/>
                </a:solidFill>
                <a:latin typeface="Arial"/>
              </a:rPr>
              <a:t>Draw prediction remains the main weakness</a:t>
            </a:r>
          </a:p>
        </p:txBody>
      </p:sp>
      <p:sp>
        <p:nvSpPr>
          <p:cNvPr id="3" name="TextBox 2"/>
          <p:cNvSpPr txBox="1"/>
          <p:nvPr/>
        </p:nvSpPr>
        <p:spPr>
          <a:xfrm>
            <a:off x="685800" y="896112"/>
            <a:ext cx="10652760" cy="283464"/>
          </a:xfrm>
          <a:prstGeom prst="rect">
            <a:avLst/>
          </a:prstGeom>
          <a:noFill/>
        </p:spPr>
        <p:txBody>
          <a:bodyPr wrap="square" lIns="27432" tIns="27432" rIns="27432" bIns="27432" anchor="t">
            <a:spAutoFit/>
          </a:bodyPr>
          <a:lstStyle/>
          <a:p>
            <a:pPr algn="l">
              <a:lnSpc>
                <a:spcPct val="100000"/>
              </a:lnSpc>
            </a:pPr>
            <a:r>
              <a:rPr sz="1250" b="0">
                <a:solidFill>
                  <a:srgbClr val="71828A"/>
                </a:solidFill>
                <a:latin typeface="Arial"/>
              </a:rPr>
              <a:t>Diagnostics pool the same five held-out checkpoint sets as the primary comparison</a:t>
            </a:r>
          </a:p>
        </p:txBody>
      </p:sp>
      <p:sp>
        <p:nvSpPr>
          <p:cNvPr id="4" name="Rectangle 3"/>
          <p:cNvSpPr/>
          <p:nvPr/>
        </p:nvSpPr>
        <p:spPr>
          <a:xfrm>
            <a:off x="685800" y="1225296"/>
            <a:ext cx="914400" cy="4572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28232"/>
            <a:ext cx="411480" cy="201168"/>
          </a:xfrm>
          <a:prstGeom prst="rect">
            <a:avLst/>
          </a:prstGeom>
          <a:noFill/>
        </p:spPr>
        <p:txBody>
          <a:bodyPr wrap="square" lIns="27432" tIns="27432" rIns="27432" bIns="27432" anchor="t">
            <a:spAutoFit/>
          </a:bodyPr>
          <a:lstStyle/>
          <a:p>
            <a:pPr algn="r">
              <a:lnSpc>
                <a:spcPct val="100000"/>
              </a:lnSpc>
            </a:pPr>
            <a:r>
              <a:rPr sz="1000" b="0">
                <a:solidFill>
                  <a:srgbClr val="71828A"/>
                </a:solidFill>
                <a:latin typeface="Arial"/>
              </a:rPr>
              <a:t>11</a:t>
            </a:r>
          </a:p>
        </p:txBody>
      </p:sp>
      <p:sp>
        <p:nvSpPr>
          <p:cNvPr id="6" name="Rectangle 5"/>
          <p:cNvSpPr/>
          <p:nvPr/>
        </p:nvSpPr>
        <p:spPr>
          <a:xfrm>
            <a:off x="594360" y="1435608"/>
            <a:ext cx="8010144" cy="4581144"/>
          </a:xfrm>
          <a:prstGeom prst="rect">
            <a:avLst/>
          </a:prstGeom>
          <a:solidFill>
            <a:srgbClr val="FFFFFF"/>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07_main_model_confusion_confidence.png"/>
          <p:cNvPicPr>
            <a:picLocks noChangeAspect="1"/>
          </p:cNvPicPr>
          <p:nvPr/>
        </p:nvPicPr>
        <p:blipFill>
          <a:blip r:embed="rId3"/>
          <a:stretch>
            <a:fillRect/>
          </a:stretch>
        </p:blipFill>
        <p:spPr>
          <a:xfrm>
            <a:off x="621792" y="2257481"/>
            <a:ext cx="7955279" cy="2937396"/>
          </a:xfrm>
          <a:prstGeom prst="rect">
            <a:avLst/>
          </a:prstGeom>
        </p:spPr>
      </p:pic>
      <p:sp>
        <p:nvSpPr>
          <p:cNvPr id="8" name="Rounded Rectangle 7"/>
          <p:cNvSpPr/>
          <p:nvPr/>
        </p:nvSpPr>
        <p:spPr>
          <a:xfrm>
            <a:off x="8851392" y="1627632"/>
            <a:ext cx="2523744" cy="1207008"/>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851392" y="1627632"/>
            <a:ext cx="73152" cy="1207008"/>
          </a:xfrm>
          <a:prstGeom prst="rect">
            <a:avLst/>
          </a:prstGeom>
          <a:solidFill>
            <a:srgbClr val="B55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052560" y="1773936"/>
            <a:ext cx="2212848" cy="402336"/>
          </a:xfrm>
          <a:prstGeom prst="rect">
            <a:avLst/>
          </a:prstGeom>
          <a:noFill/>
        </p:spPr>
        <p:txBody>
          <a:bodyPr wrap="square" lIns="27432" tIns="27432" rIns="27432" bIns="27432" anchor="t">
            <a:spAutoFit/>
          </a:bodyPr>
          <a:lstStyle/>
          <a:p>
            <a:pPr algn="l">
              <a:lnSpc>
                <a:spcPct val="100000"/>
              </a:lnSpc>
            </a:pPr>
            <a:r>
              <a:rPr sz="2400" b="1">
                <a:solidFill>
                  <a:srgbClr val="B5524B"/>
                </a:solidFill>
                <a:latin typeface="Arial"/>
              </a:rPr>
              <a:t>0.180</a:t>
            </a:r>
          </a:p>
        </p:txBody>
      </p:sp>
      <p:sp>
        <p:nvSpPr>
          <p:cNvPr id="11" name="TextBox 10"/>
          <p:cNvSpPr txBox="1"/>
          <p:nvPr/>
        </p:nvSpPr>
        <p:spPr>
          <a:xfrm>
            <a:off x="9052560" y="2185416"/>
            <a:ext cx="2212848" cy="274320"/>
          </a:xfrm>
          <a:prstGeom prst="rect">
            <a:avLst/>
          </a:prstGeom>
          <a:noFill/>
        </p:spPr>
        <p:txBody>
          <a:bodyPr wrap="square" lIns="27432" tIns="27432" rIns="27432" bIns="27432" anchor="t">
            <a:spAutoFit/>
          </a:bodyPr>
          <a:lstStyle/>
          <a:p>
            <a:pPr algn="l">
              <a:lnSpc>
                <a:spcPct val="100000"/>
              </a:lnSpc>
            </a:pPr>
            <a:r>
              <a:rPr sz="1250" b="1">
                <a:solidFill>
                  <a:srgbClr val="71828A"/>
                </a:solidFill>
                <a:latin typeface="Arial"/>
              </a:rPr>
              <a:t>DRAW PRECISION</a:t>
            </a:r>
          </a:p>
        </p:txBody>
      </p:sp>
      <p:sp>
        <p:nvSpPr>
          <p:cNvPr id="12" name="TextBox 11"/>
          <p:cNvSpPr txBox="1"/>
          <p:nvPr/>
        </p:nvSpPr>
        <p:spPr>
          <a:xfrm>
            <a:off x="9052560" y="2400300"/>
            <a:ext cx="2212848" cy="274320"/>
          </a:xfrm>
          <a:prstGeom prst="rect">
            <a:avLst/>
          </a:prstGeom>
          <a:noFill/>
        </p:spPr>
        <p:txBody>
          <a:bodyPr wrap="square" lIns="27432" tIns="27432" rIns="27432" bIns="27432" anchor="t">
            <a:spAutoFit/>
          </a:bodyPr>
          <a:lstStyle/>
          <a:p>
            <a:pPr algn="l">
              <a:lnSpc>
                <a:spcPct val="100000"/>
              </a:lnSpc>
            </a:pPr>
            <a:r>
              <a:rPr sz="1150" b="0" dirty="0">
                <a:solidFill>
                  <a:srgbClr val="48606B"/>
                </a:solidFill>
                <a:latin typeface="Arial"/>
              </a:rPr>
              <a:t>Only 18% of predictions labelled draw are correct.</a:t>
            </a:r>
          </a:p>
        </p:txBody>
      </p:sp>
      <p:sp>
        <p:nvSpPr>
          <p:cNvPr id="13" name="Rounded Rectangle 12"/>
          <p:cNvSpPr/>
          <p:nvPr/>
        </p:nvSpPr>
        <p:spPr>
          <a:xfrm>
            <a:off x="8851392" y="3090672"/>
            <a:ext cx="2523744" cy="1207008"/>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851392" y="3090672"/>
            <a:ext cx="73152" cy="120700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52560" y="3236976"/>
            <a:ext cx="2212848" cy="402336"/>
          </a:xfrm>
          <a:prstGeom prst="rect">
            <a:avLst/>
          </a:prstGeom>
          <a:noFill/>
        </p:spPr>
        <p:txBody>
          <a:bodyPr wrap="square" lIns="27432" tIns="27432" rIns="27432" bIns="27432" anchor="t">
            <a:spAutoFit/>
          </a:bodyPr>
          <a:lstStyle/>
          <a:p>
            <a:pPr algn="l">
              <a:lnSpc>
                <a:spcPct val="100000"/>
              </a:lnSpc>
            </a:pPr>
            <a:r>
              <a:rPr sz="2400" b="1">
                <a:solidFill>
                  <a:srgbClr val="D89A3D"/>
                </a:solidFill>
                <a:latin typeface="Arial"/>
              </a:rPr>
              <a:t>0.240</a:t>
            </a:r>
          </a:p>
        </p:txBody>
      </p:sp>
      <p:sp>
        <p:nvSpPr>
          <p:cNvPr id="16" name="TextBox 15"/>
          <p:cNvSpPr txBox="1"/>
          <p:nvPr/>
        </p:nvSpPr>
        <p:spPr>
          <a:xfrm>
            <a:off x="9052560" y="3648456"/>
            <a:ext cx="2212848" cy="274320"/>
          </a:xfrm>
          <a:prstGeom prst="rect">
            <a:avLst/>
          </a:prstGeom>
          <a:noFill/>
        </p:spPr>
        <p:txBody>
          <a:bodyPr wrap="square" lIns="27432" tIns="27432" rIns="27432" bIns="27432" anchor="t">
            <a:spAutoFit/>
          </a:bodyPr>
          <a:lstStyle/>
          <a:p>
            <a:pPr algn="l">
              <a:lnSpc>
                <a:spcPct val="100000"/>
              </a:lnSpc>
            </a:pPr>
            <a:r>
              <a:rPr sz="1250" b="1">
                <a:solidFill>
                  <a:srgbClr val="71828A"/>
                </a:solidFill>
                <a:latin typeface="Arial"/>
              </a:rPr>
              <a:t>DRAW RECALL</a:t>
            </a:r>
          </a:p>
        </p:txBody>
      </p:sp>
      <p:sp>
        <p:nvSpPr>
          <p:cNvPr id="17" name="TextBox 16"/>
          <p:cNvSpPr txBox="1"/>
          <p:nvPr/>
        </p:nvSpPr>
        <p:spPr>
          <a:xfrm>
            <a:off x="9043416" y="3863340"/>
            <a:ext cx="2212848" cy="274320"/>
          </a:xfrm>
          <a:prstGeom prst="rect">
            <a:avLst/>
          </a:prstGeom>
          <a:noFill/>
        </p:spPr>
        <p:txBody>
          <a:bodyPr wrap="square" lIns="27432" tIns="27432" rIns="27432" bIns="27432" anchor="t">
            <a:spAutoFit/>
          </a:bodyPr>
          <a:lstStyle/>
          <a:p>
            <a:pPr algn="l">
              <a:lnSpc>
                <a:spcPct val="100000"/>
              </a:lnSpc>
            </a:pPr>
            <a:r>
              <a:rPr sz="1150" b="0">
                <a:solidFill>
                  <a:srgbClr val="48606B"/>
                </a:solidFill>
                <a:latin typeface="Arial"/>
              </a:rPr>
              <a:t>Only 24% of true draw snapshots are detected.</a:t>
            </a:r>
          </a:p>
        </p:txBody>
      </p:sp>
      <p:sp>
        <p:nvSpPr>
          <p:cNvPr id="18" name="Rounded Rectangle 17"/>
          <p:cNvSpPr/>
          <p:nvPr/>
        </p:nvSpPr>
        <p:spPr>
          <a:xfrm>
            <a:off x="8851392" y="4553712"/>
            <a:ext cx="2523744" cy="1170432"/>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851392" y="4553712"/>
            <a:ext cx="73152" cy="1170432"/>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52560" y="4700016"/>
            <a:ext cx="2212848" cy="402336"/>
          </a:xfrm>
          <a:prstGeom prst="rect">
            <a:avLst/>
          </a:prstGeom>
          <a:noFill/>
        </p:spPr>
        <p:txBody>
          <a:bodyPr wrap="square" lIns="27432" tIns="27432" rIns="27432" bIns="27432" anchor="t">
            <a:spAutoFit/>
          </a:bodyPr>
          <a:lstStyle/>
          <a:p>
            <a:pPr algn="l">
              <a:lnSpc>
                <a:spcPct val="100000"/>
              </a:lnSpc>
            </a:pPr>
            <a:r>
              <a:rPr sz="2400" b="1">
                <a:solidFill>
                  <a:srgbClr val="007E78"/>
                </a:solidFill>
                <a:latin typeface="Arial"/>
              </a:rPr>
              <a:t>0.206</a:t>
            </a:r>
          </a:p>
        </p:txBody>
      </p:sp>
      <p:sp>
        <p:nvSpPr>
          <p:cNvPr id="21" name="TextBox 20"/>
          <p:cNvSpPr txBox="1"/>
          <p:nvPr/>
        </p:nvSpPr>
        <p:spPr>
          <a:xfrm>
            <a:off x="9052560" y="5111496"/>
            <a:ext cx="2212848" cy="274320"/>
          </a:xfrm>
          <a:prstGeom prst="rect">
            <a:avLst/>
          </a:prstGeom>
          <a:noFill/>
        </p:spPr>
        <p:txBody>
          <a:bodyPr wrap="square" lIns="27432" tIns="27432" rIns="27432" bIns="27432" anchor="t">
            <a:spAutoFit/>
          </a:bodyPr>
          <a:lstStyle/>
          <a:p>
            <a:pPr algn="l">
              <a:lnSpc>
                <a:spcPct val="100000"/>
              </a:lnSpc>
            </a:pPr>
            <a:r>
              <a:rPr sz="1250" b="1">
                <a:solidFill>
                  <a:srgbClr val="71828A"/>
                </a:solidFill>
                <a:latin typeface="Arial"/>
              </a:rPr>
              <a:t>DRAW F1</a:t>
            </a:r>
          </a:p>
        </p:txBody>
      </p:sp>
      <p:sp>
        <p:nvSpPr>
          <p:cNvPr id="22" name="TextBox 21"/>
          <p:cNvSpPr txBox="1"/>
          <p:nvPr/>
        </p:nvSpPr>
        <p:spPr>
          <a:xfrm>
            <a:off x="9052560" y="5335524"/>
            <a:ext cx="2212848" cy="237744"/>
          </a:xfrm>
          <a:prstGeom prst="rect">
            <a:avLst/>
          </a:prstGeom>
          <a:noFill/>
        </p:spPr>
        <p:txBody>
          <a:bodyPr wrap="square" lIns="27432" tIns="27432" rIns="27432" bIns="27432" anchor="t">
            <a:spAutoFit/>
          </a:bodyPr>
          <a:lstStyle/>
          <a:p>
            <a:pPr algn="l">
              <a:lnSpc>
                <a:spcPct val="100000"/>
              </a:lnSpc>
            </a:pPr>
            <a:r>
              <a:rPr sz="1150" b="0" dirty="0">
                <a:solidFill>
                  <a:srgbClr val="48606B"/>
                </a:solidFill>
                <a:latin typeface="Arial"/>
              </a:rPr>
              <a:t>Black F1 0.708
White F1 0.722</a:t>
            </a:r>
          </a:p>
        </p:txBody>
      </p:sp>
      <p:sp>
        <p:nvSpPr>
          <p:cNvPr id="23" name="TextBox 22"/>
          <p:cNvSpPr txBox="1"/>
          <p:nvPr/>
        </p:nvSpPr>
        <p:spPr>
          <a:xfrm>
            <a:off x="1645920" y="6062472"/>
            <a:ext cx="5943600" cy="219456"/>
          </a:xfrm>
          <a:prstGeom prst="rect">
            <a:avLst/>
          </a:prstGeom>
          <a:noFill/>
        </p:spPr>
        <p:txBody>
          <a:bodyPr wrap="square" lIns="27432" tIns="27432" rIns="27432" bIns="27432" anchor="t">
            <a:spAutoFit/>
          </a:bodyPr>
          <a:lstStyle/>
          <a:p>
            <a:pPr algn="ctr">
              <a:lnSpc>
                <a:spcPct val="100000"/>
              </a:lnSpc>
            </a:pPr>
            <a:r>
              <a:rPr sz="1250" b="0">
                <a:solidFill>
                  <a:srgbClr val="71828A"/>
                </a:solidFill>
                <a:latin typeface="Arial"/>
              </a:rPr>
              <a:t>Snapshot-level supports are correlated within games.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38328"/>
            <a:ext cx="10698480" cy="502920"/>
          </a:xfrm>
          <a:prstGeom prst="rect">
            <a:avLst/>
          </a:prstGeom>
          <a:noFill/>
        </p:spPr>
        <p:txBody>
          <a:bodyPr wrap="square" lIns="27432" tIns="27432" rIns="27432" bIns="27432" anchor="t">
            <a:spAutoFit/>
          </a:bodyPr>
          <a:lstStyle/>
          <a:p>
            <a:pPr algn="l">
              <a:lnSpc>
                <a:spcPct val="100000"/>
              </a:lnSpc>
            </a:pPr>
            <a:r>
              <a:rPr sz="2800" b="1">
                <a:solidFill>
                  <a:srgbClr val="142C3B"/>
                </a:solidFill>
                <a:latin typeface="Arial"/>
              </a:rPr>
              <a:t>Interpretation, limitations, and next step</a:t>
            </a:r>
          </a:p>
        </p:txBody>
      </p:sp>
      <p:sp>
        <p:nvSpPr>
          <p:cNvPr id="3" name="Rectangle 2"/>
          <p:cNvSpPr/>
          <p:nvPr/>
        </p:nvSpPr>
        <p:spPr>
          <a:xfrm>
            <a:off x="685800" y="1225296"/>
            <a:ext cx="914400" cy="4572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28232"/>
            <a:ext cx="411480" cy="201168"/>
          </a:xfrm>
          <a:prstGeom prst="rect">
            <a:avLst/>
          </a:prstGeom>
          <a:noFill/>
        </p:spPr>
        <p:txBody>
          <a:bodyPr wrap="square" lIns="27432" tIns="27432" rIns="27432" bIns="27432" anchor="t">
            <a:spAutoFit/>
          </a:bodyPr>
          <a:lstStyle/>
          <a:p>
            <a:pPr algn="r">
              <a:lnSpc>
                <a:spcPct val="100000"/>
              </a:lnSpc>
            </a:pPr>
            <a:r>
              <a:rPr sz="1000" b="0">
                <a:solidFill>
                  <a:srgbClr val="71828A"/>
                </a:solidFill>
                <a:latin typeface="Arial"/>
              </a:rPr>
              <a:t>12</a:t>
            </a:r>
          </a:p>
        </p:txBody>
      </p:sp>
      <p:sp>
        <p:nvSpPr>
          <p:cNvPr id="5" name="Rounded Rectangle 4"/>
          <p:cNvSpPr/>
          <p:nvPr/>
        </p:nvSpPr>
        <p:spPr>
          <a:xfrm>
            <a:off x="713232" y="1463040"/>
            <a:ext cx="3493008" cy="1325880"/>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13232" y="1463040"/>
            <a:ext cx="73152" cy="132588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91056"/>
            <a:ext cx="3182112" cy="310896"/>
          </a:xfrm>
          <a:prstGeom prst="rect">
            <a:avLst/>
          </a:prstGeom>
          <a:noFill/>
        </p:spPr>
        <p:txBody>
          <a:bodyPr wrap="square" lIns="27432" tIns="27432" rIns="27432" bIns="27432" anchor="t">
            <a:spAutoFit/>
          </a:bodyPr>
          <a:lstStyle/>
          <a:p>
            <a:pPr algn="l">
              <a:lnSpc>
                <a:spcPct val="100000"/>
              </a:lnSpc>
            </a:pPr>
            <a:r>
              <a:rPr sz="1500" b="1">
                <a:solidFill>
                  <a:srgbClr val="007E78"/>
                </a:solidFill>
                <a:latin typeface="Arial"/>
              </a:rPr>
              <a:t>WHAT WE ESTABLISH</a:t>
            </a:r>
          </a:p>
        </p:txBody>
      </p:sp>
      <p:sp>
        <p:nvSpPr>
          <p:cNvPr id="8" name="TextBox 7"/>
          <p:cNvSpPr txBox="1"/>
          <p:nvPr/>
        </p:nvSpPr>
        <p:spPr>
          <a:xfrm>
            <a:off x="914400" y="1965960"/>
            <a:ext cx="3182112" cy="740664"/>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Human context improves a matched HGB predictor beyond position evidence in this dataset.</a:t>
            </a:r>
          </a:p>
        </p:txBody>
      </p:sp>
      <p:sp>
        <p:nvSpPr>
          <p:cNvPr id="9" name="Rounded Rectangle 8"/>
          <p:cNvSpPr/>
          <p:nvPr/>
        </p:nvSpPr>
        <p:spPr>
          <a:xfrm>
            <a:off x="4352544" y="1463040"/>
            <a:ext cx="3493008" cy="1325880"/>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52544" y="1463040"/>
            <a:ext cx="73152" cy="1325880"/>
          </a:xfrm>
          <a:prstGeom prst="rect">
            <a:avLst/>
          </a:prstGeom>
          <a:solidFill>
            <a:srgbClr val="B55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53712" y="1591056"/>
            <a:ext cx="3182112" cy="310896"/>
          </a:xfrm>
          <a:prstGeom prst="rect">
            <a:avLst/>
          </a:prstGeom>
          <a:noFill/>
        </p:spPr>
        <p:txBody>
          <a:bodyPr wrap="square" lIns="27432" tIns="27432" rIns="27432" bIns="27432" anchor="t">
            <a:spAutoFit/>
          </a:bodyPr>
          <a:lstStyle/>
          <a:p>
            <a:pPr algn="l">
              <a:lnSpc>
                <a:spcPct val="100000"/>
              </a:lnSpc>
            </a:pPr>
            <a:r>
              <a:rPr sz="1500" b="1">
                <a:solidFill>
                  <a:srgbClr val="B5524B"/>
                </a:solidFill>
                <a:latin typeface="Arial"/>
              </a:rPr>
              <a:t>WHAT WE DO NOT ESTABLISH</a:t>
            </a:r>
          </a:p>
        </p:txBody>
      </p:sp>
      <p:sp>
        <p:nvSpPr>
          <p:cNvPr id="12" name="TextBox 11"/>
          <p:cNvSpPr txBox="1"/>
          <p:nvPr/>
        </p:nvSpPr>
        <p:spPr>
          <a:xfrm>
            <a:off x="4553712" y="1965960"/>
            <a:ext cx="3182112" cy="740664"/>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The model does not play stronger chess than Stockfish, and the result is not causal.</a:t>
            </a:r>
          </a:p>
        </p:txBody>
      </p:sp>
      <p:sp>
        <p:nvSpPr>
          <p:cNvPr id="13" name="Rounded Rectangle 12"/>
          <p:cNvSpPr/>
          <p:nvPr/>
        </p:nvSpPr>
        <p:spPr>
          <a:xfrm>
            <a:off x="7991856" y="1463040"/>
            <a:ext cx="3493008" cy="1325880"/>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991856" y="1463040"/>
            <a:ext cx="73152" cy="1325880"/>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93024" y="1591056"/>
            <a:ext cx="3182112" cy="310896"/>
          </a:xfrm>
          <a:prstGeom prst="rect">
            <a:avLst/>
          </a:prstGeom>
          <a:noFill/>
        </p:spPr>
        <p:txBody>
          <a:bodyPr wrap="square" lIns="27432" tIns="27432" rIns="27432" bIns="27432" anchor="t">
            <a:spAutoFit/>
          </a:bodyPr>
          <a:lstStyle/>
          <a:p>
            <a:pPr algn="l">
              <a:lnSpc>
                <a:spcPct val="100000"/>
              </a:lnSpc>
            </a:pPr>
            <a:r>
              <a:rPr sz="1500" b="1">
                <a:solidFill>
                  <a:srgbClr val="D89A3D"/>
                </a:solidFill>
                <a:latin typeface="Arial"/>
              </a:rPr>
              <a:t>ENGINE LIMIT</a:t>
            </a:r>
          </a:p>
        </p:txBody>
      </p:sp>
      <p:sp>
        <p:nvSpPr>
          <p:cNvPr id="16" name="TextBox 15"/>
          <p:cNvSpPr txBox="1"/>
          <p:nvPr/>
        </p:nvSpPr>
        <p:spPr>
          <a:xfrm>
            <a:off x="8193024" y="1965960"/>
            <a:ext cx="3182112" cy="740664"/>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Stockfish uses a reproducible 1,000-node budget; deeper analysis may change its features.</a:t>
            </a:r>
          </a:p>
        </p:txBody>
      </p:sp>
      <p:sp>
        <p:nvSpPr>
          <p:cNvPr id="17" name="Rounded Rectangle 16"/>
          <p:cNvSpPr/>
          <p:nvPr/>
        </p:nvSpPr>
        <p:spPr>
          <a:xfrm>
            <a:off x="713232" y="3108960"/>
            <a:ext cx="3493008" cy="1325880"/>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13232" y="3108960"/>
            <a:ext cx="73152" cy="1325880"/>
          </a:xfrm>
          <a:prstGeom prst="rect">
            <a:avLst/>
          </a:prstGeom>
          <a:solidFill>
            <a:srgbClr val="486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3236976"/>
            <a:ext cx="3182112" cy="310896"/>
          </a:xfrm>
          <a:prstGeom prst="rect">
            <a:avLst/>
          </a:prstGeom>
          <a:noFill/>
        </p:spPr>
        <p:txBody>
          <a:bodyPr wrap="square" lIns="27432" tIns="27432" rIns="27432" bIns="27432" anchor="t">
            <a:spAutoFit/>
          </a:bodyPr>
          <a:lstStyle/>
          <a:p>
            <a:pPr algn="l">
              <a:lnSpc>
                <a:spcPct val="100000"/>
              </a:lnSpc>
            </a:pPr>
            <a:r>
              <a:rPr sz="1500" b="1">
                <a:solidFill>
                  <a:srgbClr val="48606B"/>
                </a:solidFill>
                <a:latin typeface="Arial"/>
              </a:rPr>
              <a:t>DATA LIMIT</a:t>
            </a:r>
          </a:p>
        </p:txBody>
      </p:sp>
      <p:sp>
        <p:nvSpPr>
          <p:cNvPr id="20" name="TextBox 19"/>
          <p:cNvSpPr txBox="1"/>
          <p:nvPr/>
        </p:nvSpPr>
        <p:spPr>
          <a:xfrm>
            <a:off x="914400" y="3611880"/>
            <a:ext cx="3182112" cy="740664"/>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No per-move clock; random game split does not test temporal drift or unseen-player transfer.</a:t>
            </a:r>
          </a:p>
        </p:txBody>
      </p:sp>
      <p:sp>
        <p:nvSpPr>
          <p:cNvPr id="21" name="Rounded Rectangle 20"/>
          <p:cNvSpPr/>
          <p:nvPr/>
        </p:nvSpPr>
        <p:spPr>
          <a:xfrm>
            <a:off x="4352544" y="3108960"/>
            <a:ext cx="3493008" cy="1325880"/>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52544" y="3108960"/>
            <a:ext cx="73152" cy="1325880"/>
          </a:xfrm>
          <a:prstGeom prst="rect">
            <a:avLst/>
          </a:prstGeom>
          <a:solidFill>
            <a:srgbClr val="14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53712" y="3236976"/>
            <a:ext cx="3182112" cy="310896"/>
          </a:xfrm>
          <a:prstGeom prst="rect">
            <a:avLst/>
          </a:prstGeom>
          <a:noFill/>
        </p:spPr>
        <p:txBody>
          <a:bodyPr wrap="square" lIns="27432" tIns="27432" rIns="27432" bIns="27432" anchor="t">
            <a:spAutoFit/>
          </a:bodyPr>
          <a:lstStyle/>
          <a:p>
            <a:pPr algn="l">
              <a:lnSpc>
                <a:spcPct val="100000"/>
              </a:lnSpc>
            </a:pPr>
            <a:r>
              <a:rPr sz="1500" b="1">
                <a:solidFill>
                  <a:srgbClr val="142C3B"/>
                </a:solidFill>
                <a:latin typeface="Arial"/>
              </a:rPr>
              <a:t>EVALUATION LIMIT</a:t>
            </a:r>
          </a:p>
        </p:txBody>
      </p:sp>
      <p:sp>
        <p:nvSpPr>
          <p:cNvPr id="24" name="TextBox 23"/>
          <p:cNvSpPr txBox="1"/>
          <p:nvPr/>
        </p:nvSpPr>
        <p:spPr>
          <a:xfrm>
            <a:off x="4553712" y="3611880"/>
            <a:ext cx="3182112" cy="740664"/>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Training uses fixed-ply positions; the test curve uses percentage-selected positions.</a:t>
            </a:r>
          </a:p>
        </p:txBody>
      </p:sp>
      <p:sp>
        <p:nvSpPr>
          <p:cNvPr id="25" name="Rounded Rectangle 24"/>
          <p:cNvSpPr/>
          <p:nvPr/>
        </p:nvSpPr>
        <p:spPr>
          <a:xfrm>
            <a:off x="7991856" y="3108960"/>
            <a:ext cx="3493008" cy="1325880"/>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991856" y="3108960"/>
            <a:ext cx="73152" cy="1325880"/>
          </a:xfrm>
          <a:prstGeom prst="rect">
            <a:avLst/>
          </a:prstGeom>
          <a:solidFill>
            <a:srgbClr val="B55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193024" y="3236976"/>
            <a:ext cx="3182112" cy="310896"/>
          </a:xfrm>
          <a:prstGeom prst="rect">
            <a:avLst/>
          </a:prstGeom>
          <a:noFill/>
        </p:spPr>
        <p:txBody>
          <a:bodyPr wrap="square" lIns="27432" tIns="27432" rIns="27432" bIns="27432" anchor="t">
            <a:spAutoFit/>
          </a:bodyPr>
          <a:lstStyle/>
          <a:p>
            <a:pPr algn="l">
              <a:lnSpc>
                <a:spcPct val="100000"/>
              </a:lnSpc>
            </a:pPr>
            <a:r>
              <a:rPr sz="1500" b="1">
                <a:solidFill>
                  <a:srgbClr val="B5524B"/>
                </a:solidFill>
                <a:latin typeface="Arial"/>
              </a:rPr>
              <a:t>CLASS LIMIT</a:t>
            </a:r>
          </a:p>
        </p:txBody>
      </p:sp>
      <p:sp>
        <p:nvSpPr>
          <p:cNvPr id="28" name="TextBox 27"/>
          <p:cNvSpPr txBox="1"/>
          <p:nvPr/>
        </p:nvSpPr>
        <p:spPr>
          <a:xfrm>
            <a:off x="8193024" y="3611880"/>
            <a:ext cx="3182112" cy="740664"/>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Only 4.6% of games are draws, and draw precision and recall remain low.</a:t>
            </a:r>
          </a:p>
        </p:txBody>
      </p:sp>
      <p:sp>
        <p:nvSpPr>
          <p:cNvPr id="29" name="Rounded Rectangle 28"/>
          <p:cNvSpPr/>
          <p:nvPr/>
        </p:nvSpPr>
        <p:spPr>
          <a:xfrm>
            <a:off x="1078992" y="5074920"/>
            <a:ext cx="10040112" cy="868680"/>
          </a:xfrm>
          <a:prstGeom prst="roundRect">
            <a:avLst/>
          </a:prstGeom>
          <a:solidFill>
            <a:srgbClr val="E6F1EF"/>
          </a:solidFill>
          <a:ln w="12700">
            <a:solidFill>
              <a:srgbClr val="B9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53312" y="5303520"/>
            <a:ext cx="1417320" cy="219456"/>
          </a:xfrm>
          <a:prstGeom prst="rect">
            <a:avLst/>
          </a:prstGeom>
          <a:noFill/>
        </p:spPr>
        <p:txBody>
          <a:bodyPr wrap="square" lIns="27432" tIns="27432" rIns="27432" bIns="27432" anchor="t">
            <a:spAutoFit/>
          </a:bodyPr>
          <a:lstStyle/>
          <a:p>
            <a:pPr algn="l">
              <a:lnSpc>
                <a:spcPct val="100000"/>
              </a:lnSpc>
            </a:pPr>
            <a:r>
              <a:rPr sz="1400" b="1">
                <a:solidFill>
                  <a:srgbClr val="007E78"/>
                </a:solidFill>
                <a:latin typeface="Arial"/>
              </a:rPr>
              <a:t>NEXT STEP</a:t>
            </a:r>
          </a:p>
        </p:txBody>
      </p:sp>
      <p:sp>
        <p:nvSpPr>
          <p:cNvPr id="31" name="TextBox 30"/>
          <p:cNvSpPr txBox="1"/>
          <p:nvPr/>
        </p:nvSpPr>
        <p:spPr>
          <a:xfrm>
            <a:off x="2743200" y="5230368"/>
            <a:ext cx="7982712" cy="393192"/>
          </a:xfrm>
          <a:prstGeom prst="rect">
            <a:avLst/>
          </a:prstGeom>
          <a:noFill/>
        </p:spPr>
        <p:txBody>
          <a:bodyPr wrap="square" lIns="27432" tIns="27432" rIns="27432" bIns="27432" anchor="t">
            <a:spAutoFit/>
          </a:bodyPr>
          <a:lstStyle/>
          <a:p>
            <a:pPr algn="ctr">
              <a:lnSpc>
                <a:spcPct val="100000"/>
              </a:lnSpc>
            </a:pPr>
            <a:r>
              <a:rPr sz="1600" b="1">
                <a:solidFill>
                  <a:srgbClr val="142C3B"/>
                </a:solidFill>
                <a:latin typeface="Arial"/>
              </a:rPr>
              <a:t>Freeze the pipeline and evaluate on a fresh chronological or unseen-player holdout, with game-grouped uncertainty estimates.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7F6"/>
        </a:solidFill>
        <a:effectLst/>
      </p:bgPr>
    </p:bg>
    <p:spTree>
      <p:nvGrpSpPr>
        <p:cNvPr id="1" name=""/>
        <p:cNvGrpSpPr/>
        <p:nvPr/>
      </p:nvGrpSpPr>
      <p:grpSpPr>
        <a:xfrm>
          <a:off x="0" y="0"/>
          <a:ext cx="0" cy="0"/>
          <a:chOff x="0" y="0"/>
          <a:chExt cx="0" cy="0"/>
        </a:xfrm>
      </p:grpSpPr>
      <p:sp>
        <p:nvSpPr>
          <p:cNvPr id="2" name="TextBox 1"/>
          <p:cNvSpPr txBox="1"/>
          <p:nvPr/>
        </p:nvSpPr>
        <p:spPr>
          <a:xfrm>
            <a:off x="658368" y="338328"/>
            <a:ext cx="10698480" cy="502920"/>
          </a:xfrm>
          <a:prstGeom prst="rect">
            <a:avLst/>
          </a:prstGeom>
          <a:noFill/>
        </p:spPr>
        <p:txBody>
          <a:bodyPr wrap="square" lIns="27432" tIns="27432" rIns="27432" bIns="27432" anchor="t">
            <a:spAutoFit/>
          </a:bodyPr>
          <a:lstStyle/>
          <a:p>
            <a:pPr algn="l">
              <a:lnSpc>
                <a:spcPct val="100000"/>
              </a:lnSpc>
            </a:pPr>
            <a:r>
              <a:rPr sz="2800" b="1">
                <a:solidFill>
                  <a:srgbClr val="142C3B"/>
                </a:solidFill>
                <a:latin typeface="Arial"/>
              </a:rPr>
              <a:t>Conclusion</a:t>
            </a:r>
          </a:p>
        </p:txBody>
      </p:sp>
      <p:sp>
        <p:nvSpPr>
          <p:cNvPr id="3" name="TextBox 2"/>
          <p:cNvSpPr txBox="1"/>
          <p:nvPr/>
        </p:nvSpPr>
        <p:spPr>
          <a:xfrm>
            <a:off x="685800" y="896112"/>
            <a:ext cx="10652760" cy="283464"/>
          </a:xfrm>
          <a:prstGeom prst="rect">
            <a:avLst/>
          </a:prstGeom>
          <a:noFill/>
        </p:spPr>
        <p:txBody>
          <a:bodyPr wrap="square" lIns="27432" tIns="27432" rIns="27432" bIns="27432" anchor="t">
            <a:spAutoFit/>
          </a:bodyPr>
          <a:lstStyle/>
          <a:p>
            <a:pPr algn="l">
              <a:lnSpc>
                <a:spcPct val="100000"/>
              </a:lnSpc>
            </a:pPr>
            <a:r>
              <a:rPr sz="1250" b="0">
                <a:solidFill>
                  <a:srgbClr val="71828A"/>
                </a:solidFill>
                <a:latin typeface="Arial"/>
              </a:rPr>
              <a:t>Objective board strength and human context answer complementary parts of the prediction problem</a:t>
            </a:r>
          </a:p>
        </p:txBody>
      </p:sp>
      <p:sp>
        <p:nvSpPr>
          <p:cNvPr id="4" name="Rectangle 3"/>
          <p:cNvSpPr/>
          <p:nvPr/>
        </p:nvSpPr>
        <p:spPr>
          <a:xfrm>
            <a:off x="685800" y="1225296"/>
            <a:ext cx="914400" cy="4572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28232"/>
            <a:ext cx="411480" cy="201168"/>
          </a:xfrm>
          <a:prstGeom prst="rect">
            <a:avLst/>
          </a:prstGeom>
          <a:noFill/>
        </p:spPr>
        <p:txBody>
          <a:bodyPr wrap="square" lIns="27432" tIns="27432" rIns="27432" bIns="27432" anchor="t">
            <a:spAutoFit/>
          </a:bodyPr>
          <a:lstStyle/>
          <a:p>
            <a:pPr algn="r">
              <a:lnSpc>
                <a:spcPct val="100000"/>
              </a:lnSpc>
            </a:pPr>
            <a:r>
              <a:rPr sz="1000" b="0">
                <a:solidFill>
                  <a:srgbClr val="71828A"/>
                </a:solidFill>
                <a:latin typeface="Arial"/>
              </a:rPr>
              <a:t>13</a:t>
            </a:r>
          </a:p>
        </p:txBody>
      </p:sp>
      <p:sp>
        <p:nvSpPr>
          <p:cNvPr id="6" name="Rounded Rectangle 5"/>
          <p:cNvSpPr/>
          <p:nvPr/>
        </p:nvSpPr>
        <p:spPr>
          <a:xfrm>
            <a:off x="749808" y="1417320"/>
            <a:ext cx="3474720" cy="1078992"/>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9808" y="1417320"/>
            <a:ext cx="73152" cy="1078992"/>
          </a:xfrm>
          <a:prstGeom prst="rect">
            <a:avLst/>
          </a:prstGeom>
          <a:solidFill>
            <a:srgbClr val="B552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50976" y="1545336"/>
            <a:ext cx="3163824" cy="310896"/>
          </a:xfrm>
          <a:prstGeom prst="rect">
            <a:avLst/>
          </a:prstGeom>
          <a:noFill/>
        </p:spPr>
        <p:txBody>
          <a:bodyPr wrap="square" lIns="27432" tIns="27432" rIns="27432" bIns="27432" anchor="t">
            <a:spAutoFit/>
          </a:bodyPr>
          <a:lstStyle/>
          <a:p>
            <a:pPr algn="l">
              <a:lnSpc>
                <a:spcPct val="100000"/>
              </a:lnSpc>
            </a:pPr>
            <a:r>
              <a:rPr sz="1500" b="1">
                <a:solidFill>
                  <a:srgbClr val="B5524B"/>
                </a:solidFill>
                <a:latin typeface="Arial"/>
              </a:rPr>
              <a:t>ENGINE VIEW</a:t>
            </a:r>
          </a:p>
        </p:txBody>
      </p:sp>
      <p:sp>
        <p:nvSpPr>
          <p:cNvPr id="9" name="TextBox 8"/>
          <p:cNvSpPr txBox="1"/>
          <p:nvPr/>
        </p:nvSpPr>
        <p:spPr>
          <a:xfrm>
            <a:off x="950976" y="1920240"/>
            <a:ext cx="3163824" cy="493775"/>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Direct WDL is principled, but mismatched to early human-game outcomes.</a:t>
            </a:r>
          </a:p>
        </p:txBody>
      </p:sp>
      <p:sp>
        <p:nvSpPr>
          <p:cNvPr id="10" name="Rounded Rectangle 9"/>
          <p:cNvSpPr/>
          <p:nvPr/>
        </p:nvSpPr>
        <p:spPr>
          <a:xfrm>
            <a:off x="4361688" y="1417320"/>
            <a:ext cx="3474720" cy="1078992"/>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61688" y="1417320"/>
            <a:ext cx="73152" cy="1078992"/>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62855" y="1545336"/>
            <a:ext cx="3163824" cy="310896"/>
          </a:xfrm>
          <a:prstGeom prst="rect">
            <a:avLst/>
          </a:prstGeom>
          <a:noFill/>
        </p:spPr>
        <p:txBody>
          <a:bodyPr wrap="square" lIns="27432" tIns="27432" rIns="27432" bIns="27432" anchor="t">
            <a:spAutoFit/>
          </a:bodyPr>
          <a:lstStyle/>
          <a:p>
            <a:pPr algn="l">
              <a:lnSpc>
                <a:spcPct val="100000"/>
              </a:lnSpc>
            </a:pPr>
            <a:r>
              <a:rPr sz="1500" b="1">
                <a:solidFill>
                  <a:srgbClr val="D89A3D"/>
                </a:solidFill>
                <a:latin typeface="Arial"/>
              </a:rPr>
              <a:t>LEARNED MAPPING</a:t>
            </a:r>
          </a:p>
        </p:txBody>
      </p:sp>
      <p:sp>
        <p:nvSpPr>
          <p:cNvPr id="13" name="TextBox 12"/>
          <p:cNvSpPr txBox="1"/>
          <p:nvPr/>
        </p:nvSpPr>
        <p:spPr>
          <a:xfrm>
            <a:off x="4562855" y="1920240"/>
            <a:ext cx="3163824" cy="493775"/>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Position-only HGB adapts engine evidence to recorded human results.</a:t>
            </a:r>
          </a:p>
        </p:txBody>
      </p:sp>
      <p:sp>
        <p:nvSpPr>
          <p:cNvPr id="14" name="Rounded Rectangle 13"/>
          <p:cNvSpPr/>
          <p:nvPr/>
        </p:nvSpPr>
        <p:spPr>
          <a:xfrm>
            <a:off x="7973568" y="1417320"/>
            <a:ext cx="3474720" cy="1078992"/>
          </a:xfrm>
          <a:prstGeom prst="roundRect">
            <a:avLst/>
          </a:prstGeom>
          <a:solidFill>
            <a:srgbClr val="F2F7F6"/>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973568" y="1417320"/>
            <a:ext cx="73152" cy="1078992"/>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74736" y="1545336"/>
            <a:ext cx="3163824" cy="310896"/>
          </a:xfrm>
          <a:prstGeom prst="rect">
            <a:avLst/>
          </a:prstGeom>
          <a:noFill/>
        </p:spPr>
        <p:txBody>
          <a:bodyPr wrap="square" lIns="27432" tIns="27432" rIns="27432" bIns="27432" anchor="t">
            <a:spAutoFit/>
          </a:bodyPr>
          <a:lstStyle/>
          <a:p>
            <a:pPr algn="l">
              <a:lnSpc>
                <a:spcPct val="100000"/>
              </a:lnSpc>
            </a:pPr>
            <a:r>
              <a:rPr sz="1500" b="1">
                <a:solidFill>
                  <a:srgbClr val="007E78"/>
                </a:solidFill>
                <a:latin typeface="Arial"/>
              </a:rPr>
              <a:t>MAIN RESULT</a:t>
            </a:r>
          </a:p>
        </p:txBody>
      </p:sp>
      <p:sp>
        <p:nvSpPr>
          <p:cNvPr id="17" name="TextBox 16"/>
          <p:cNvSpPr txBox="1"/>
          <p:nvPr/>
        </p:nvSpPr>
        <p:spPr>
          <a:xfrm>
            <a:off x="8174736" y="1920240"/>
            <a:ext cx="3163824" cy="493775"/>
          </a:xfrm>
          <a:prstGeom prst="rect">
            <a:avLst/>
          </a:prstGeom>
          <a:noFill/>
        </p:spPr>
        <p:txBody>
          <a:bodyPr wrap="square" lIns="27432" tIns="27432" rIns="27432" bIns="27432" anchor="t">
            <a:spAutoFit/>
          </a:bodyPr>
          <a:lstStyle/>
          <a:p>
            <a:pPr algn="l">
              <a:lnSpc>
                <a:spcPct val="100000"/>
              </a:lnSpc>
            </a:pPr>
            <a:r>
              <a:rPr sz="1300" b="0">
                <a:solidFill>
                  <a:srgbClr val="48606B"/>
                </a:solidFill>
                <a:latin typeface="Arial"/>
              </a:rPr>
              <a:t>Human-context HGB reaches 68.7% pooled accuracy and 0.545 macro-F1.</a:t>
            </a:r>
          </a:p>
        </p:txBody>
      </p:sp>
      <p:sp>
        <p:nvSpPr>
          <p:cNvPr id="18" name="TextBox 17"/>
          <p:cNvSpPr txBox="1"/>
          <p:nvPr/>
        </p:nvSpPr>
        <p:spPr>
          <a:xfrm>
            <a:off x="786384" y="2907792"/>
            <a:ext cx="2560320" cy="274320"/>
          </a:xfrm>
          <a:prstGeom prst="rect">
            <a:avLst/>
          </a:prstGeom>
          <a:noFill/>
        </p:spPr>
        <p:txBody>
          <a:bodyPr wrap="square" lIns="27432" tIns="27432" rIns="27432" bIns="27432" anchor="t">
            <a:spAutoFit/>
          </a:bodyPr>
          <a:lstStyle/>
          <a:p>
            <a:pPr algn="l">
              <a:lnSpc>
                <a:spcPct val="100000"/>
              </a:lnSpc>
            </a:pPr>
            <a:r>
              <a:rPr sz="1700" b="1">
                <a:solidFill>
                  <a:srgbClr val="142C3B"/>
                </a:solidFill>
                <a:latin typeface="Arial"/>
              </a:rPr>
              <a:t>Selected references</a:t>
            </a:r>
          </a:p>
        </p:txBody>
      </p:sp>
      <p:sp>
        <p:nvSpPr>
          <p:cNvPr id="19" name="TextBox 18"/>
          <p:cNvSpPr txBox="1"/>
          <p:nvPr/>
        </p:nvSpPr>
        <p:spPr>
          <a:xfrm>
            <a:off x="786384" y="3310128"/>
            <a:ext cx="6537960" cy="1572768"/>
          </a:xfrm>
          <a:prstGeom prst="rect">
            <a:avLst/>
          </a:prstGeom>
          <a:noFill/>
        </p:spPr>
        <p:txBody>
          <a:bodyPr wrap="square" lIns="36576" tIns="27432" rIns="36576" bIns="27432" anchor="t">
            <a:spAutoFit/>
          </a:bodyPr>
          <a:lstStyle/>
          <a:p>
            <a:pPr>
              <a:lnSpc>
                <a:spcPct val="100000"/>
              </a:lnSpc>
              <a:spcAft>
                <a:spcPts val="400"/>
              </a:spcAft>
            </a:pPr>
            <a:r>
              <a:rPr sz="1250" b="0">
                <a:solidFill>
                  <a:srgbClr val="48606B"/>
                </a:solidFill>
                <a:latin typeface="Arial"/>
              </a:rPr>
              <a:t>• datasnaek. Chess Game Dataset (Lichess). Kaggle.</a:t>
            </a:r>
          </a:p>
          <a:p>
            <a:pPr>
              <a:lnSpc>
                <a:spcPct val="100000"/>
              </a:lnSpc>
              <a:spcAft>
                <a:spcPts val="400"/>
              </a:spcAft>
            </a:pPr>
            <a:r>
              <a:rPr sz="1250" b="0">
                <a:solidFill>
                  <a:srgbClr val="48606B"/>
                </a:solidFill>
                <a:latin typeface="Arial"/>
              </a:rPr>
              <a:t>• Fiekas, N. python-chess engine documentation.</a:t>
            </a:r>
          </a:p>
          <a:p>
            <a:pPr>
              <a:lnSpc>
                <a:spcPct val="100000"/>
              </a:lnSpc>
              <a:spcAft>
                <a:spcPts val="400"/>
              </a:spcAft>
            </a:pPr>
            <a:r>
              <a:rPr sz="1250" b="0">
                <a:solidFill>
                  <a:srgbClr val="48606B"/>
                </a:solidFill>
                <a:latin typeface="Arial"/>
              </a:rPr>
              <a:t>• Stockfish developers. Stockfish 19 documentation.</a:t>
            </a:r>
          </a:p>
          <a:p>
            <a:pPr>
              <a:lnSpc>
                <a:spcPct val="100000"/>
              </a:lnSpc>
              <a:spcAft>
                <a:spcPts val="400"/>
              </a:spcAft>
            </a:pPr>
            <a:r>
              <a:rPr sz="1250" b="0">
                <a:solidFill>
                  <a:srgbClr val="48606B"/>
                </a:solidFill>
                <a:latin typeface="Arial"/>
              </a:rPr>
              <a:t>• scikit-learn developers. HistGradientBoostingClassifier documentation.</a:t>
            </a:r>
          </a:p>
        </p:txBody>
      </p:sp>
      <p:sp>
        <p:nvSpPr>
          <p:cNvPr id="20" name="Rounded Rectangle 19"/>
          <p:cNvSpPr/>
          <p:nvPr/>
        </p:nvSpPr>
        <p:spPr>
          <a:xfrm>
            <a:off x="7680960" y="2926080"/>
            <a:ext cx="3749039" cy="1938528"/>
          </a:xfrm>
          <a:prstGeom prst="roundRect">
            <a:avLst/>
          </a:prstGeom>
          <a:solidFill>
            <a:srgbClr val="FFFFFF"/>
          </a:solidFill>
          <a:ln w="12700">
            <a:solidFill>
              <a:srgbClr val="D7E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36992" y="3182112"/>
            <a:ext cx="3246120" cy="256032"/>
          </a:xfrm>
          <a:prstGeom prst="rect">
            <a:avLst/>
          </a:prstGeom>
          <a:noFill/>
        </p:spPr>
        <p:txBody>
          <a:bodyPr wrap="square" lIns="27432" tIns="27432" rIns="27432" bIns="27432" anchor="t">
            <a:spAutoFit/>
          </a:bodyPr>
          <a:lstStyle/>
          <a:p>
            <a:pPr algn="l">
              <a:lnSpc>
                <a:spcPct val="100000"/>
              </a:lnSpc>
            </a:pPr>
            <a:r>
              <a:rPr sz="1350" b="1">
                <a:solidFill>
                  <a:srgbClr val="007E78"/>
                </a:solidFill>
                <a:latin typeface="Arial"/>
              </a:rPr>
              <a:t>GENERATIVE AI USE</a:t>
            </a:r>
          </a:p>
        </p:txBody>
      </p:sp>
      <p:sp>
        <p:nvSpPr>
          <p:cNvPr id="22" name="TextBox 21"/>
          <p:cNvSpPr txBox="1"/>
          <p:nvPr/>
        </p:nvSpPr>
        <p:spPr>
          <a:xfrm>
            <a:off x="7936992" y="3575304"/>
            <a:ext cx="3182112" cy="987552"/>
          </a:xfrm>
          <a:prstGeom prst="rect">
            <a:avLst/>
          </a:prstGeom>
          <a:noFill/>
        </p:spPr>
        <p:txBody>
          <a:bodyPr wrap="square" lIns="27432" tIns="27432" rIns="27432" bIns="27432" anchor="t">
            <a:spAutoFit/>
          </a:bodyPr>
          <a:lstStyle/>
          <a:p>
            <a:pPr algn="l">
              <a:lnSpc>
                <a:spcPct val="100000"/>
              </a:lnSpc>
            </a:pPr>
            <a:r>
              <a:rPr sz="1250" b="0">
                <a:solidFill>
                  <a:srgbClr val="48606B"/>
                </a:solidFill>
                <a:latin typeface="Arial"/>
              </a:rPr>
              <a:t>OpenAI Codex assisted with analysis structure, code, debugging, language editing, and slide preparation. The authors verified all methods, results, references, and interpretations.</a:t>
            </a:r>
          </a:p>
        </p:txBody>
      </p:sp>
      <p:sp>
        <p:nvSpPr>
          <p:cNvPr id="23" name="Rounded Rectangle 22"/>
          <p:cNvSpPr/>
          <p:nvPr/>
        </p:nvSpPr>
        <p:spPr>
          <a:xfrm>
            <a:off x="1234440" y="5394960"/>
            <a:ext cx="9784080" cy="640080"/>
          </a:xfrm>
          <a:prstGeom prst="roundRect">
            <a:avLst/>
          </a:prstGeom>
          <a:solidFill>
            <a:srgbClr val="E6F1EF"/>
          </a:solidFill>
          <a:ln w="12700">
            <a:solidFill>
              <a:srgbClr val="E6F1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481328" y="5577840"/>
            <a:ext cx="9281160" cy="332399"/>
          </a:xfrm>
          <a:prstGeom prst="rect">
            <a:avLst/>
          </a:prstGeom>
          <a:noFill/>
        </p:spPr>
        <p:txBody>
          <a:bodyPr wrap="square" lIns="27432" tIns="27432" rIns="27432" bIns="27432" anchor="t">
            <a:spAutoFit/>
          </a:bodyPr>
          <a:lstStyle/>
          <a:p>
            <a:pPr algn="ctr">
              <a:lnSpc>
                <a:spcPct val="100000"/>
              </a:lnSpc>
            </a:pPr>
            <a:r>
              <a:rPr b="1" dirty="0">
                <a:solidFill>
                  <a:srgbClr val="007E78"/>
                </a:solidFill>
                <a:latin typeface="Arial"/>
              </a:rPr>
              <a:t>Takeaway: model the board objectively—then model the humans who play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2661</Words>
  <Application>Microsoft Office PowerPoint</Application>
  <PresentationFormat>宽屏</PresentationFormat>
  <Paragraphs>189</Paragraphs>
  <Slides>13</Slides>
  <Notes>13</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13</vt:i4>
      </vt:variant>
    </vt:vector>
  </HeadingPairs>
  <TitlesOfParts>
    <vt:vector size="16"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Human-Context Chess Outcome Prediction</dc:title>
  <dc:subject>CA6001 project presentation</dc:subject>
  <dc:creator>CA6001 Group 1</dc:creator>
  <cp:keywords>chess, Stockfish, histogram gradient boosting, human context</cp:keywords>
  <dc:description>generated using python-pptx</dc:description>
  <cp:lastModifiedBy>Gu shucheng</cp:lastModifiedBy>
  <cp:revision>3</cp:revision>
  <dcterms:created xsi:type="dcterms:W3CDTF">2013-01-27T09:14:16Z</dcterms:created>
  <dcterms:modified xsi:type="dcterms:W3CDTF">2026-10-27T06:42:51Z</dcterms:modified>
  <cp:category/>
</cp:coreProperties>
</file>